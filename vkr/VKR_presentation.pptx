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СТАРТОВАЯ ФРАЗА (выучить наизусть, без научного руководителя):</a:t>
            </a:r>
          </a:p>
          <a:p/>
          <a:p>
            <a:r>
              <a:t>«Добрый день. Меня зовут Пётр Камашев, представляю выпускную квалификационную работу на тему «Конкурентная стратегия МТС Юрент на региональных рынках кикшеринга в России». Объект исследования — МТС Юрент как федеральный оператор кикшеринга на портфеле региональных рынков, предмет — конкурентная стратегия на портфеле региональных рынков. Управленческая проблема: экстенсивная модель роста через расширение парка и географии теряет эффективность на зрелом и неоднородном рынке. Лимиты парка, регуляторика и падающая предельная отдача требуют выбора разных режимов действий по городам».</a:t>
            </a:r>
          </a:p>
          <a:p/>
          <a:p>
            <a:r>
              <a:t>ТАЙМИНГ слайда: ~1:30. Дальше — быстро проходить слайды 2 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Цель работы — разработать аналитическую систему стратегического выбора и применить к МТС Юрент. Логика — линейная: диагностика → 5 критериев → 3 сценария → выбор S3 → режимы + УПС → эффект. Выход работы — сценарий S3, система режимов R1–R3, инструмент УПС, финансовая модель и KPI.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Доказательная база сочетает публичную аналитику, внутренние поквартальные данные МТС Юрент по 86 субъектам РФ за 2024 и 9 мес. 2025, и двух экспертов. Демонстрационный портфель из 5 городов покрывает 94 % выручки оператора. ИИ применялся для обработки источников и редактуры; стратегические решения, выбор сценария и параметры финмодели — авторские; декларация — в Приложении А ВКР.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РЫНОК — три параметра. 1) ОБЪЁМ: рынок ёмкий, 31 млрд руб., 281 млн поездок — есть смысл играть. 2) ДИНАМИКА: впервые за 5 лет отрицательная — минус 6 процентов поездок, у лидера Whoosh минус 7, маржа кикшеринга упала с 42 до 28 процентов. Рынок переходит в стадию стагнации. 3) КОНКУРЕНЦИЯ: 96,8 процента у трёх операторов — олигополия, новые игроки невозможны.</a:t>
            </a:r>
          </a:p>
          <a:p/>
          <a:p>
            <a:r>
              <a:t>ВЫВОД голосом: рынок ёмкий и концентрированный, замедляется, новых игроков не появится — значит конкуренция за клиента между тремя уже состоявшимися операторами, и побеждает тот, кто эффективнее использует уже размещённый парк. Дальше — отдельные слайды про макросреду (PESTEL) и конкурентный анализ (доли + клиентский разрыв).</a:t>
            </a:r>
          </a:p>
          <a:p/>
          <a:p>
            <a:r>
              <a:t>ТАЙМИНГ: ~1 минута.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PESTEL — две ключевые возможности и две ключевые угрозы. ВОЗМОЖНОСТИ: 1) экосистема МТС с 80 млн абонентов даёт уникальный канал, недоступный конкурентам; 2) транспортный сценарий использования — устойчивый рост доли последней мили. УГРОЗЫ: 1) регуляторика по городам сильно фрагментирована; 2) удорожание капитала при ставке ЦБ 21 % делает экстенсивную модель неустойчивой. ВЫВОД: точка роста смещается в эффективность размещённого парка и локальную адаптацию.</a:t>
            </a:r>
          </a:p>
          <a:p/>
          <a:p>
            <a:r>
              <a:t>ТАЙМИНГ: ~45 сек. Не перечитывать карточки, голосом проговорить 2 возможности + 2 угрозы.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рынке олигополия трёх: Whoosh — масштаб + интеграция; МТС Юрент — экосистема МТС; Яндекс — суперприложение. Ключевой фактор успеха на зрелой стадии — доступность покрытия. У МТС Юрент гэп: 49 vs 67 тыс. руб./самокат/год. Гэп возникает не из-за меньшего парка, а из-за более низкой эффективности уже размещённого парка. Закрытие гэпа требует дифференциации действий по типам региональных рынков и проектного инструмента, повышающего доступность точечно.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пяти городах демонстрационного портфеля параметры расходятся в разные стороны. Утилизация — почти четырёхкратный разрыв между Москвой и Новосибирском. Динамика — от −10 % в Краснодаре до +129 % в Новосибирске. Регуляторика — от жёсткой в Москве до умеренной в трёх других. Позиция МТС Юрент во всех — преследователь. Из этой неоднородности вытекает невозможность единого режима — портфельная логика становится единственным реалистичным ответом.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Внутри Юрента сильные стороны: экосистема МТС (80 млн абонентов, MTS ID, Premium), технологическая платформа Eleven, парк 120 тыс. СИМ в 187 локациях, гибкость пилотов. Слабые: централизованная управленческая логика, нет процедуры назначения режимов, ограниченная локальная экспертиза. В терминах динамических способностей: операционный блок развит, способность перестраивать ресурсы под изменения рынка — в начальной зрелости. Проблема — не в отсутствии потенциала, а в способе превращения ресурсов в региональный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Сводный стратегический диагноз: разрыв состоит в том, что МТС Юрент работает с неоднородной портфельной средой через единообразную управленческую логику. Причины: переход к зрелости, расхождение регионов, слабая формализация регионального управления. Если не менять — ухудшение экономики покрытия. Ответ — портфельная стратегия с дифференцированными режимами и общим контуром контроля.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Главный методический результат — две конструкции. Трёхуровневая иерархия факторов различения рынков: I — структурная конфигурация (выбор режима), II — операционная исполнимость (проверка реализуемости), III — тактические рычаги. Пять критериев оценки сценариев, выведенных из теории: ресурсная защитимость, динамические способности, операционная исполнимость, финансовый эффект, профиль риска.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альтернативы: S1 — единая логика, S2 — единый режим R3 + адаптация, S3 — диверсификация режимов по портфелю. Сравнение по пяти критериям. S3 сильнее по четырём из пяти. Уступает только по операционной исполнимости в горизонте перестройки — но этот проигрыш адресован компенсаторами. Выбран S3.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Содержательное наполнение S3 — три режима. R1 «Плацдарм» — закрепление, R2 «Атака» — рост доли, R3 «Удержание» — защита маржи. Каждый описан через однородные поля. Назначение по 5 городам: Москва — R3 (огранич.), СПб — R2 → R3, Екб — R2 + пилот УПС, Краснодар — R2/R3, Новосибирск — R2/R3 (эффект.). Это не статическая кластеризация, а воспроизводимая процедура с пересмотром каждый сезон.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ВНИМАНИЕ: ИА жёстко критиковал — Пётр потратил 7 минут на этот слайд из 27, нельзя. МАКСИМУМ 1 МИНУТА. Не грузить деталями М1/М2/М3.</a:t>
            </a:r>
          </a:p>
          <a:p/>
          <a:p>
            <a:r>
              <a:t>РЕЧЬ (≈60 сек):</a:t>
            </a:r>
          </a:p>
          <a:p>
            <a:r>
              <a:t>«Один из инструментов реализации сценария S3 — управление покрытием через стимулы. Цель — три эффекта: для клиента — повышение доступности самоката в нужной точке, для парка — рост утилизации уже размещённого, для оператора — снижение операционных издержек. Ключевая цифра экономики: одна операция физического перемещения парка стоит 120 рублей по данным эксперта МТС, средневзвешенная стоимость стимула — 26,5 рубля. В 4,5 раза дешевле. Механика — три типа стимулов: пользователю в точке высадки, в точке посадки и оплачиваемое микрозадание внешнему исполнителю. KPI пилота — прирост поездок в зонах, доля физической ребалансировки, стоимость стимула на предотвращённую потерю поездки, отклик пользователей».</a:t>
            </a:r>
          </a:p>
          <a:p/>
          <a:p>
            <a:r>
              <a:t>Если спросят детали механизмов — отвечаем коротко, не разворачиваем.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Финансовая модель: затраты года 1 — 48 млн руб., эффекты — 73 млн EBITDA, чистый эффект +25 млн. Чувствительность −14 / +25 / +64 млн. Год 2 при тиражировании УПС — +80–100 млн. NPV проекта при WACC 20 % на 3-летнем горизонте — +134 млн руб. Payback — около 8 месяцев. ROI год 1 — 52 %, год 2 — 243 %. Capex проекта всего 8 млн на IT-инфраструктуру УПС — низкая капитальная интенсивность.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ПЛАН + РИСКИ объединены по правкам ИА.</a:t>
            </a:r>
          </a:p>
          <a:p/>
          <a:p>
            <a:r>
              <a:t>РЕЧЬ:</a:t>
            </a:r>
          </a:p>
          <a:p>
            <a:r>
              <a:t>«Реализация — через пилот в Екатеринбурге за 12 месяцев: диагностика, запуск стимулов пользователям, микрозадания исполнителям, калибровка, итоги. Со второго года — тиражирование на трёх R2-городов.</a:t>
            </a:r>
          </a:p>
          <a:p/>
          <a:p>
            <a:r>
              <a:t>Три ключевых риска. Первый — регуляторные шоки, компенсируется встроенными правилами перехода между режимами. Второй — ошибка диагностики режима, компенсируется ежесезонным пересмотром по KPI. Третий — кадровая нагрузка координации, компенсируется поэтапным внедрением и выделенной функцией портфельного управления. Остальные риски — в приложении к ВКР».</a:t>
            </a:r>
          </a:p>
          <a:p/>
          <a:p>
            <a:r>
              <a:t>ТАЙМИНГ: ~1 мин.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ФИНАЛЬНАЯ ФРАЗА (выучить наизусть, замыкает управленческую проблему из начала):</a:t>
            </a:r>
          </a:p>
          <a:p/>
          <a:p>
            <a:r>
              <a:t>«Подведу итог. В начале защиты я сформулировал управленческую проблему МТС Юрент: экстенсивная модель роста через расширение парка и географии теряет эффективность на зрелом и неоднородном рынке — это выражалось в стагнации спроса, обвале маржи лидера и четырёхкратном разрыве утилизации по городам.</a:t>
            </a:r>
          </a:p>
          <a:p/>
          <a:p>
            <a:r>
              <a:t>В рамках работы проведена диагностика, сопоставлены три сценария по пяти критериям, обоснован выбор дифференцированного управления портфелем регионов, предложен инструмент управления покрытием через стимулы и построена финансовая модель.</a:t>
            </a:r>
          </a:p>
          <a:p/>
          <a:p>
            <a:r>
              <a:t>Разработанная система позволяет МТС Юрент получить эффект плюс 25 миллионов рублей EBITDA в первый год и плюс 80–100 миллионов во второй год при тиражировании, с NPV плюс 134 миллиона при ставке 20 % и окупаемостью около восьми месяцев — что напрямую отвечает на исходную управленческую проблему и переводит её из источника риска в управляемое решение.</a:t>
            </a:r>
          </a:p>
          <a:p/>
          <a:p>
            <a:r>
              <a:t>Спасибо за внимание, готов к вопросам».</a:t>
            </a:r>
          </a:p>
          <a:p/>
          <a:p>
            <a:r>
              <a:t>ТАЙМИНГ: ~50 сек.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ВКР  |  Конкурентная стратегия МТС Юрент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320040"/>
            <a:ext cx="9144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Москва  · 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247120" cy="1645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1A"/>
                </a:solidFill>
                <a:latin typeface="Calibri"/>
              </a:rPr>
              <a:t>Как МТС Юренту перейти от роста через парк</a:t>
            </a:r>
          </a:p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A1A1A"/>
                </a:solidFill>
                <a:latin typeface="Calibri"/>
              </a:rPr>
              <a:t>к управлению отдачей регионального портфеля?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80360"/>
            <a:ext cx="16459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Объект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880360"/>
            <a:ext cx="9601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МТС Юрент как федеральный оператор кикшеринга на портфеле региональных рынков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16459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Предмет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246120"/>
            <a:ext cx="96012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Конкурентная стратегия на портфеле региональных рынков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6459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Проблема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3611880"/>
            <a:ext cx="9601200" cy="8229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Экстенсивная модель роста через расширение парка и географии теряет эффективность на зрелом и неоднородном рынке. Лимиты парка, регуляторика и падающая предельная отдача требуют выбора разных режимов действий по городам.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617720"/>
            <a:ext cx="365760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27448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Рынок зрелее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4920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спрос в 2025 г.  −6 %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94959"/>
            <a:ext cx="32918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5 лет роста — закончились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4617720"/>
            <a:ext cx="365760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4727448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Парк ограничен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074920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fleet cap и регуляторика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5394959"/>
            <a:ext cx="32918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каждый новый самокат дороже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4617720"/>
            <a:ext cx="3657600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727448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Города разные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5074920"/>
            <a:ext cx="32918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утилизация различается в 4×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5394959"/>
            <a:ext cx="32918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единый режим не работает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33872"/>
            <a:ext cx="16459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>
                <a:solidFill>
                  <a:srgbClr val="ED0028"/>
                </a:solidFill>
                <a:latin typeface="Calibri"/>
              </a:rPr>
              <a:t>96,8 %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245352"/>
            <a:ext cx="1645920" cy="1828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доля топ-3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5833872"/>
            <a:ext cx="16459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ED0028"/>
                </a:solidFill>
                <a:latin typeface="Calibri"/>
              </a:rPr>
              <a:t>187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245352"/>
            <a:ext cx="2103120" cy="1828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локаций МТС Юрент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98267" y="5897880"/>
            <a:ext cx="1325880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8267" y="5971032"/>
            <a:ext cx="1325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Диагноз города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15587" y="5897880"/>
            <a:ext cx="1325880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5587" y="5971032"/>
            <a:ext cx="1325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Выбор режима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32907" y="5897880"/>
            <a:ext cx="1325880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32907" y="5971032"/>
            <a:ext cx="1325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Рычаги в сезоне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0227" y="5897880"/>
            <a:ext cx="1325880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0227" y="5971032"/>
            <a:ext cx="1325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67547" y="5897880"/>
            <a:ext cx="1325880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7547" y="5971032"/>
            <a:ext cx="1325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Эффект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65392"/>
            <a:ext cx="11247120" cy="1828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Камашев Пётр  ·  Управление бизнесом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ЛОГИКА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2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Цель ВКР — разработать систему стратегического выбора для портфеля региональных рынков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45920"/>
            <a:ext cx="11247120" cy="9144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828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Цель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881360" cy="594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Разработать аналитическую систему стратегического выбора оператора кикшеринга в портфеле региональных рынков и применить её к МТС Юрент: сопоставить три альтернативных сценария, обосновать выбор сценария, предложить проектный инструментарий и количественно оценить эффект на демонстрационном портфеле из пяти городов.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88920"/>
            <a:ext cx="224028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Анализ внешней</a:t>
            </a:r>
          </a:p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среды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8745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рынок, PESTEL, конкуренты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2788920"/>
            <a:ext cx="224028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1800" y="301752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6576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Анализ внутренней</a:t>
            </a:r>
          </a:p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среды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4206240"/>
            <a:ext cx="18745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портфель городов, утилизация, выручка/самокат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788920"/>
            <a:ext cx="224028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0" y="301752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6576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Диагностика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206240"/>
            <a:ext cx="18745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управленческая проблема и её причины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52360" y="2788920"/>
            <a:ext cx="224028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0" y="301752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36576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Выбор сценария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4206240"/>
            <a:ext cx="18745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сравнение трёх альтернатив по 5 критериям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2788920"/>
            <a:ext cx="224028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966960" y="301752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60" y="3657600"/>
            <a:ext cx="187452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Реализация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4206240"/>
            <a:ext cx="1874520" cy="10058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режимы действий, инструмент, финмодель, риски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440680"/>
            <a:ext cx="11247120" cy="7772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504688"/>
            <a:ext cx="274320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Выход работы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Сценарий S3  ·  система режимов R1–R3  ·  проектный инструмент УПС  ·  финансовая модель на 5 городах  ·  KPI пилота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Цель работы — проектная: дать МТС Юрент аналитический язык выбора действий по региональным рынкам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МЕТОДЫ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3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Выводы основаны на публичной аналитике, внутренних данных оператора и сценарной финмодели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Блок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69164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Что использовано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916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Зачем это нужно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19456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Диагностика рынка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19456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TrueSharing 2023–2025, отчётность Whoosh и МТС, деловая пресса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1945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доказать переход к зрелости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97480"/>
            <a:ext cx="11247120" cy="5029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69748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Внутренняя база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69748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поквартальные данные МТС Юрент по 86 субъектам РФ за 2024 и 9м25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9748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сопоставить города и построить финмодель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20040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20040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Экспертиза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20040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эксперт А. — M&amp;A МТС;  эксперт Б. — калибровка логики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20040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проверить управленческую применимость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03320"/>
            <a:ext cx="11247120" cy="5029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70332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Методы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3703320"/>
            <a:ext cx="566928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PESTEL, конкурентный анализ, рамка I-II-III, сценарное сравнение, финмодель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70332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перейти от проблемы к выбору S3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2628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274320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ED0028"/>
                </a:solidFill>
                <a:latin typeface="Calibri"/>
              </a:rPr>
              <a:t>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48640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субъектов РФ в агрегированной базе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52628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4709160"/>
            <a:ext cx="274320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ED0028"/>
                </a:solidFill>
                <a:latin typeface="Calibri"/>
              </a:rPr>
              <a:t>2024–9м25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548640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период внутренней базы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452628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0" y="4709160"/>
            <a:ext cx="274320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ED0028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548640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городов демонстрационного портфеля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61120" y="4526280"/>
            <a:ext cx="274320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0" y="4709160"/>
            <a:ext cx="274320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ED0028"/>
                </a:solidFill>
                <a:latin typeface="Calibri"/>
              </a:rPr>
              <a:t>ИИ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48640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обработка источников + редактура; решения и интерпретации авторские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Эмпирическая база достаточна для предварительного выбора стратегии и дизайна пилота; апробация — этап пилота УПС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РЫНОК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4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Рынок ёмкий и концентрированный, но впервые замедлился — пора управлять отдачей, а не наращивать парк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707070"/>
                </a:solidFill>
                <a:latin typeface="Calibri"/>
              </a:rPr>
              <a:t>Три параметра рынка для принятия решения:  объём → динамика → конкуренция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94560"/>
            <a:ext cx="3703320" cy="3657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237744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423160"/>
            <a:ext cx="27889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Объём рынка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333756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ED0028"/>
                </a:solidFill>
                <a:latin typeface="Calibri"/>
              </a:rPr>
              <a:t>31,1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3337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млрд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51960"/>
            <a:ext cx="3154679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и 281,6 млн поездок (2024)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5349240"/>
            <a:ext cx="3429000" cy="4114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349240"/>
            <a:ext cx="3429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Рынок ёмкий — играть имеет смысл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2194560"/>
            <a:ext cx="3703320" cy="3657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237744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423160"/>
            <a:ext cx="27889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Динамика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108960"/>
            <a:ext cx="333756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ED0028"/>
                </a:solidFill>
                <a:latin typeface="Calibri"/>
              </a:rPr>
              <a:t>−6 %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886200"/>
            <a:ext cx="3337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поездок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4251960"/>
            <a:ext cx="3154679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Whoosh: −7 % поездок, −13 % выручки;</a:t>
            </a:r>
          </a:p>
          <a:p>
            <a:pPr algn="ctr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EBITDA-маржа 42,3 → 28,6 %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5349240"/>
            <a:ext cx="3429000" cy="4114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5349240"/>
            <a:ext cx="3429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Впервые за 5 лет — отрицательная динамика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19" y="2194560"/>
            <a:ext cx="3703320" cy="3657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29599" y="2377440"/>
            <a:ext cx="502920" cy="50292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23160"/>
            <a:ext cx="27889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A1A1A"/>
                </a:solidFill>
                <a:latin typeface="Calibri"/>
              </a:rPr>
              <a:t>Конкуренция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3108960"/>
            <a:ext cx="333756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ED0028"/>
                </a:solidFill>
                <a:latin typeface="Calibri"/>
              </a:rPr>
              <a:t>96,8 %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9" y="3886200"/>
            <a:ext cx="3337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у топ-3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251960"/>
            <a:ext cx="3154679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олигополия: Whoosh, МТС Юрент, Яндекс</a:t>
            </a:r>
          </a:p>
          <a:p>
            <a:pPr algn="ctr">
              <a:lnSpc>
                <a:spcPct val="13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новые игроки практически невозможны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79" y="5349240"/>
            <a:ext cx="3429000" cy="4114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5349240"/>
            <a:ext cx="3429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Управлять эффективностью внутри тройки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На рынке с 3 конкурентами и стагнацией спроса конкурентный результат зависит от отдачи уже размещённого парка, а не от его прироста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PESTEL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Внешняя среда даёт две ключевые возможности и две ключевые угрозы — диктует фокус на эффективности и дифференциации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5577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E7A3C"/>
                </a:solidFill>
                <a:latin typeface="Calibri"/>
              </a:rPr>
              <a:t>ВОЗМОЖНОСТИ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1691640"/>
            <a:ext cx="5577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C01A1A"/>
                </a:solidFill>
                <a:latin typeface="Calibri"/>
              </a:rPr>
              <a:t>УГРОЗЫ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557784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Экосистема МТС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9601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80 млн абонентов, MTS ID, Premium, обезличенная геоаналитика — экосистемный канал доступа к клиенту, недоступный конкурентам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840480"/>
            <a:ext cx="557784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Спрос «последней мили»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43400"/>
            <a:ext cx="5212080" cy="9601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устойчивая категория поведения, рост доли транспортного использования; рынок не схлопывается, а перебалансируется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2148840"/>
            <a:ext cx="557784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228600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Регуляторика по городам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651760"/>
            <a:ext cx="5212080" cy="9601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mos.ru-верификация в Москве, угрозы расторжения договоров в Екб, разные правила — повышают стоимость унифицированной модели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40480"/>
            <a:ext cx="557784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397764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Удорожание капитала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43400"/>
            <a:ext cx="5212080" cy="9601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ставка ЦБ 21 %, срок службы парка 2–3 сезона — каждый новый самокат дороже окупается, экстенсивный рост теряет смысл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650992"/>
            <a:ext cx="365760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Доминирующий стратегический ответ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70448"/>
            <a:ext cx="105156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Не наращивать парк, а извлекать больше из уже размещённого; адаптировать модель к локальной регуляторике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PESTEL подтверждает: точкой роста становится эффективность размещённого парка и локальная адаптация модели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КОНКУРЕНЦИЯ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КФУ на зрелой стадии — доступность покрытия; у МТС Юрент системный гэп 49 vs 67 тыс. ₽ с лидером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19202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Оператор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1691640"/>
            <a:ext cx="12801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Парк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691640"/>
            <a:ext cx="44805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Логика преимущества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69164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Ограничение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4028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40280"/>
            <a:ext cx="19202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Whoosh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240280"/>
            <a:ext cx="12801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150 тыс.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240280"/>
            <a:ext cx="44805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масштаб парка + вертикальная интеграция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224028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снижение предельной отдачи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88920"/>
            <a:ext cx="1124712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88920"/>
            <a:ext cx="19202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ED0028"/>
                </a:solidFill>
                <a:latin typeface="Calibri"/>
              </a:rPr>
              <a:t>МТС Юрент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788920"/>
            <a:ext cx="12801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120 тыс.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788920"/>
            <a:ext cx="44805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экосистема МТС, рост, Eleven, широкая география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278892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ниже утилизация и выручка/самокат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37560"/>
            <a:ext cx="112471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337560"/>
            <a:ext cx="19202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1A1A"/>
                </a:solidFill>
                <a:latin typeface="Calibri"/>
              </a:rPr>
              <a:t>Яндекс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3337560"/>
            <a:ext cx="12801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30 тыс.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3337560"/>
            <a:ext cx="448056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трафик суперприложения + транспорт. экосистема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3337560"/>
            <a:ext cx="24688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меньший парк, непубличный фокус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5669280" cy="21031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206240"/>
            <a:ext cx="53035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07070"/>
                </a:solidFill>
                <a:latin typeface="Calibri"/>
              </a:rPr>
              <a:t>Гэп с лидером — в эффективности, не в размере парка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526280"/>
            <a:ext cx="1828800" cy="11887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 i="0">
                <a:solidFill>
                  <a:srgbClr val="ED0028"/>
                </a:solidFill>
                <a:latin typeface="Calibri"/>
              </a:rPr>
              <a:t>49,4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4526280"/>
            <a:ext cx="548640" cy="11887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1A1A1A"/>
                </a:solidFill>
                <a:latin typeface="Calibri"/>
              </a:rPr>
              <a:t>vs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526280"/>
            <a:ext cx="1828800" cy="11887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 i="0">
                <a:solidFill>
                  <a:srgbClr val="1A1A1A"/>
                </a:solidFill>
                <a:latin typeface="Calibri"/>
              </a:rPr>
              <a:t>66,8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760720"/>
            <a:ext cx="53035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тыс. ₽ — выручка на самокат в год · МТС Юрент против Whoosh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4069080"/>
            <a:ext cx="534924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420624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Ключевые факторы успеха на зрелой стадии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4572000"/>
            <a:ext cx="512064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1.  Фактическая доступность самоката в нужной точке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93776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2.  Экономика на единицу парка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239512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3.  Операционная исполнимость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5623560"/>
            <a:ext cx="512064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→  Доступность покрытия — критический КФУ; к нему привязан УПС (Слайд 13)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Гэп закрывается не наращиванием парка, а повышением отдачи от уже размещённого парка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ПОРТФЕЛЬ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7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Даже внутри портфеля Юрента 5 городов расходятся в 4× по утилизации — единый режим невозможен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247120" cy="5029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Город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79" y="169164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Утилизация</a:t>
            </a:r>
          </a:p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поезд./самокат/год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169164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YoY поездок</a:t>
            </a:r>
          </a:p>
          <a:p>
            <a:pPr algn="ctr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9 мес.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169164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Регуляторика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169164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Гипотеза режима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19456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Москва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79" y="219456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1 073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219456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C01A1A"/>
                </a:solidFill>
                <a:latin typeface="Calibri"/>
              </a:rPr>
              <a:t>−6,6 %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19456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жёсткая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19456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R3 (огранич.)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697480"/>
            <a:ext cx="11247120" cy="5029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9748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Санкт-Петербург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269748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609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269748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+42,3 %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69748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умеренно жёсткая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69748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R2 → R3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20040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320040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Краснодар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79" y="320040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564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320040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C01A1A"/>
                </a:solidFill>
                <a:latin typeface="Calibri"/>
              </a:rPr>
              <a:t>−10,2 %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20040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умеренная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320040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R2 / R3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03320"/>
            <a:ext cx="11247120" cy="50292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70332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Екатеринбург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97479" y="370332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319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370332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+4,1 %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370332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умеренная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70332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R2 + пилот УПС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20624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20624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Новосибирск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79" y="4206240"/>
            <a:ext cx="1828799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277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4206240"/>
            <a:ext cx="173736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+128,9 %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4206240"/>
            <a:ext cx="21031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умеренная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4206240"/>
            <a:ext cx="237744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R2/R3 (эффект.)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937760"/>
            <a:ext cx="36576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07492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Москва теряет объём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440680"/>
            <a:ext cx="329184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−14 % выручки 2025 при жёсткой регуляторике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51960" y="4937760"/>
            <a:ext cx="36576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34840" y="507492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СПб и Новосибирск растут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440680"/>
            <a:ext cx="329184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+42 % и +129 % YoY — резерв плотности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46720" y="4937760"/>
            <a:ext cx="36576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0" y="5074920"/>
            <a:ext cx="3291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ED0028"/>
                </a:solidFill>
                <a:latin typeface="Calibri"/>
              </a:rPr>
              <a:t>Екб — низкая утилизация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0" y="5440680"/>
            <a:ext cx="329184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319 п/с/год: идеальный полигон для пилота УПС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Источник: внутренние поквартальные данные МТС Юрент за 2024 и 9 мес. 2025 (эксперт А.); портфель = 94 % выручки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ВНУТРЕННЯЯ СРЕДА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8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Анализ внутренней среды: сильная экосистема МТС и Eleven, но централизованная управленческая логика для 187 локаций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5532120" cy="397763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5532120" cy="45720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64792"/>
            <a:ext cx="5532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+   СИЛЬНЫЕ СТОРОНЫ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Экосистема МТС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80 млн абонентов · MTS ID · Premium · обезличенная геоаналитика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Технол. платформа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79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после приобретения Eleven (декабрь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Операционная база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120 тыс. СИМ в 187 локациях, отстроенные процедуры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Гибкость пилотирования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02920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компактная команда, короткий контур решений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1691640"/>
            <a:ext cx="5532120" cy="397763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2" y="1691640"/>
            <a:ext cx="5532120" cy="457200"/>
          </a:xfrm>
          <a:prstGeom prst="rect">
            <a:avLst/>
          </a:prstGeom>
          <a:solidFill>
            <a:srgbClr val="C0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1764792"/>
            <a:ext cx="5532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−   СЛАБЫЕ СТОРОНЫ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28600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Централизованная управл. логика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56032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мало чувствительна к различиям регионов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310896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Нет процедуры назначения режимов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3383279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решения по городам — набор разовых кейсов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393192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Огранич. локальная экспертиза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420624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дефицит выделенных функций региональной координации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512" y="4754880"/>
            <a:ext cx="5166359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Отставание по эффективности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5029200"/>
            <a:ext cx="5166359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707070"/>
                </a:solidFill>
                <a:latin typeface="Calibri"/>
              </a:rPr>
              <a:t>выручка/самокат и утилизация ниже Whoosh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1A1A1A"/>
                </a:solidFill>
                <a:latin typeface="Calibri"/>
              </a:rPr>
              <a:t>Dynamic capabilities:  операционный блок развит,  способность перестраивать ресурсы под изменения рынка — в начальной зрелости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Проблема — не в отсутствии ресурсов, а в том, что текущая модель не превращает их в региональный результат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ДИАГНОЗ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9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Стратегический диагноз: портфель стал неоднородным быстрее, чем управленческая модель оператора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49427" y="1691640"/>
            <a:ext cx="2651760" cy="182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867" y="1691640"/>
            <a:ext cx="2468879" cy="1828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Федеральный масштаб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и зрелый рынок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101187" y="2606040"/>
            <a:ext cx="228600" cy="0"/>
          </a:xfrm>
          <a:prstGeom prst="line">
            <a:avLst/>
          </a:prstGeom>
          <a:ln w="19050">
            <a:solidFill>
              <a:srgbClr val="ED00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329787" y="1691640"/>
            <a:ext cx="2651760" cy="182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1227" y="1691640"/>
            <a:ext cx="2468879" cy="1828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Разные города: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спрос, регуляторика,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сезон, конкуренция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81547" y="2606040"/>
            <a:ext cx="228600" cy="0"/>
          </a:xfrm>
          <a:prstGeom prst="line">
            <a:avLst/>
          </a:prstGeom>
          <a:ln w="19050">
            <a:solidFill>
              <a:srgbClr val="ED00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210147" y="1691640"/>
            <a:ext cx="2651760" cy="1828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1587" y="1691640"/>
            <a:ext cx="2468879" cy="1828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Единая логика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теряет точность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61907" y="2606040"/>
            <a:ext cx="228600" cy="0"/>
          </a:xfrm>
          <a:prstGeom prst="line">
            <a:avLst/>
          </a:prstGeom>
          <a:ln w="19050">
            <a:solidFill>
              <a:srgbClr val="ED00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9090507" y="1691640"/>
            <a:ext cx="2651760" cy="182880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1947" y="1691640"/>
            <a:ext cx="2468879" cy="1828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Нужна система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«город → режим → KPI»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3703320" cy="2286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3703320" cy="4114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904488"/>
            <a:ext cx="3703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Причины разрыва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89120"/>
            <a:ext cx="3337560" cy="1691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стагнация совокупного спроса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регуляторная фрагментация по городам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разная утилизация парка по городам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3840480"/>
            <a:ext cx="3703320" cy="2286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51959" y="3840480"/>
            <a:ext cx="3703320" cy="41148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59" y="3904488"/>
            <a:ext cx="3703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Последствия (если не менять)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389120"/>
            <a:ext cx="3337560" cy="1691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ошибки в масштабе присутствия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избыточный OpEx в тяжёлых рынках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недоиспользование роста в R2-городах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19" y="3840480"/>
            <a:ext cx="3703320" cy="2286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3840480"/>
            <a:ext cx="3703320" cy="41148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19" y="3904488"/>
            <a:ext cx="3703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Ответ работы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4389120"/>
            <a:ext cx="3337560" cy="1691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портфельная стратегия с разными режимами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общий контур контроля и KPI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 дорожная карта пилота УПС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Нужна управляемая система различения региональных рынков «город → режим → KPI»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РАМКА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10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Рамка I-II-III переводит различия городов в параметры стратегического выбора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6400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Три уровня диагностики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7132320" cy="4114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7315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Уровень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03120"/>
            <a:ext cx="34747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Что оцениваем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03120"/>
            <a:ext cx="210312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На что влияет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7132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14600"/>
            <a:ext cx="7315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ED0028"/>
                </a:solidFill>
                <a:latin typeface="Calibri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2514600"/>
            <a:ext cx="34747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ёмкость, регуляторика, конкуренция,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положение МТС Юрент на рынке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514600"/>
            <a:ext cx="21031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выбор режима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(R1, R2 или R3)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79"/>
            <a:ext cx="7132320" cy="868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83279"/>
            <a:ext cx="7315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ED0028"/>
                </a:solidFill>
                <a:latin typeface="Calibri"/>
              </a:rPr>
              <a:t>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383279"/>
            <a:ext cx="34747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сезонность, плотность спроса,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стоимость покрытия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383279"/>
            <a:ext cx="21031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осуществимость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режима в сезоне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51959"/>
            <a:ext cx="71323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51959"/>
            <a:ext cx="7315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ED0028"/>
                </a:solidFill>
                <a:latin typeface="Calibri"/>
              </a:rPr>
              <a:t>III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251959"/>
            <a:ext cx="34747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цены, промо, партнёрства,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переразмещение парка, УПС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4251959"/>
            <a:ext cx="2103120" cy="8686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рычаги внутри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уже выбранного режима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1691640"/>
            <a:ext cx="41148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5 критериев оценки сценариев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2103120"/>
            <a:ext cx="402336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210312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103120"/>
            <a:ext cx="33832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Ресурсно-теоретическая защитимость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2697479"/>
            <a:ext cx="402336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2697479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2697479"/>
            <a:ext cx="33832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Согласованность с динамическими способностями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3291839"/>
            <a:ext cx="402336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3291839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3291839"/>
            <a:ext cx="33832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Операционная исполнимость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0" y="3886200"/>
            <a:ext cx="402336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0" y="388620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886200"/>
            <a:ext cx="33832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Финансово-операционный эффект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4480560"/>
            <a:ext cx="402336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4480560"/>
            <a:ext cx="54864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480560"/>
            <a:ext cx="3383280" cy="5486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Профиль риска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85216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1A1A1A"/>
                </a:solidFill>
                <a:latin typeface="Calibri"/>
              </a:rPr>
              <a:t>I-II дают диагноз города → выбор режима;  III показывает доступные рычаги управления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Рамка готовит сравнение S1/S2/S3 и карту действий по городам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АЛЬТЕРНАТИВЫ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11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Из трёх альтернатив оптимальна диверсификация режимов по портфелю — сценарий 3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795759" cy="5943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Критерий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79" y="16916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S1: единая логика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6916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S2: единый режим + адаптация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19" y="169164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S3: диверсификация режимов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11795759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28600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Ресурсная защитимость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79" y="228600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низкая: ресурсы не дают дифференциации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28600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средняя: дисциплина исполнения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228600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высокая: ресурсы МТС работают там, где дают эффект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880360"/>
            <a:ext cx="11795759" cy="5943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88036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Dynamic capabilities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288036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низкая: слабое различение рынков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88036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средняя: адаптация внутри 1 режима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19" y="288036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высокая: воспроизводимое различение рынков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474720"/>
            <a:ext cx="11795759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47472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Операционная исполнимость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79" y="347472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высокая по факту (инерция)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высокая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6919" y="347472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средняя: нужны компенсаторы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069080"/>
            <a:ext cx="11795759" cy="59436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06908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Финансовый эффект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79" y="406908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низкий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6908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средний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6919" y="406908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высокий при пилоте и контроле OpEx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11795759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634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Профиль риска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79" y="46634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концентрирован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663440"/>
            <a:ext cx="274320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концентрирован в R3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19" y="4663440"/>
            <a:ext cx="2468880" cy="5943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распределён; требует координации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486400"/>
            <a:ext cx="11247120" cy="77724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22860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Выбор: S3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22960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S3 решает исходный разрыв при управляемых рисках. Уступает только по операционной исполнимости в горизонте перестройки — адресовано компенсаторами (Слайд 15)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S3 связывает региональные различия с ресурсами и эффектом ценой повышенных требований к координации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СТРАТЕГИЯ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12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Сценарий 3 — управление портфелем режимов, назначенных конкретным городам, с пересмотром по KPI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370332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3703320" cy="6400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10512"/>
            <a:ext cx="8229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783080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Плацдарм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057400"/>
            <a:ext cx="2560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закрепление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333756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минимальная плотность парка; операционные стандарты; контакты с городом; ограниченное промо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3337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KPI:  покрытие ключевых зон, базовая утилизация, отсутствие конфликтов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691640"/>
            <a:ext cx="370332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691640"/>
            <a:ext cx="3703320" cy="6400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10512"/>
            <a:ext cx="8229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1783080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Атака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057400"/>
            <a:ext cx="2560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рост доли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468880"/>
            <a:ext cx="333756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расширение и переразмещение парка; плотность ключевых зон; клиентская и ценовая работа; УПС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383280"/>
            <a:ext cx="3337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KPI:  поездки, доля относительно лидера, активная аудитория, выручка/самокат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19" y="1691640"/>
            <a:ext cx="370332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691640"/>
            <a:ext cx="3703320" cy="6400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9" y="1810512"/>
            <a:ext cx="8229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R3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783080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Удержание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2057400"/>
            <a:ext cx="2560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защита экономики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2468880"/>
            <a:ext cx="3337560" cy="8686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дисциплина расстановки; снижение издержек обслуживания; защита микролокаций; удержание пользователей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599" y="3383280"/>
            <a:ext cx="333756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KPI:  доля поездок, выручка/самокат, ребалансировка, EBITDA-маржа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023360"/>
            <a:ext cx="10972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Назначение режимов по городам портфеля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389120"/>
            <a:ext cx="11247120" cy="32004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38912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Город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38912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Режим S3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4389120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Что делаем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59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709159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Москва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4709159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R3 (огранич.)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60" y="4709159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оптимизируем парк, концентрируемся в устойчивых зонах, соблюдаем регуляторные ограничения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029200"/>
            <a:ext cx="11247120" cy="3200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502920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Санкт-Петербург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502920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R2 → R3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60" y="5029200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атакуем при запасе плотности; готовим переход к удержанию при ужесточении регуляторики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49240"/>
            <a:ext cx="11247120" cy="320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34924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Екатеринбург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360" y="534924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R2 + пилот УПС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6360" y="5349240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пилотируем УПС, переразмещаем парк в ключевых зонах, растим утилизацию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669279"/>
            <a:ext cx="11247120" cy="3200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5669279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Краснодар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80360" y="5669279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R2 / R3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66360" y="5669279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используем длинный сезон, удерживаем плотность, контролируем стоимость покрытия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598932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Новосибирск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5989320"/>
            <a:ext cx="201168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ED0028"/>
                </a:solidFill>
                <a:latin typeface="Calibri"/>
              </a:rPr>
              <a:t>R2/R3 эффект.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66360" y="5989320"/>
            <a:ext cx="6400800" cy="3200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растём с низкой базы, контролируем утилизацию и стоимость покрытия в коротком сезоне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Стратегия задаёт правила назначения режима и переходов между режимами по фактическим KPI каждый сезон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ИНСТРУМЕНТ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13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Управление покрытием через стимулы — повышение доступности для клиента и отдачи парка для оператора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Цель инструмента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370332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40279"/>
            <a:ext cx="3337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для клиента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79"/>
            <a:ext cx="33375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Доступность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33375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самокат оказывается в нужной точке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в нужное время — улучшение клиентского опыта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2103120"/>
            <a:ext cx="370332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240279"/>
            <a:ext cx="3337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для парка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468879"/>
            <a:ext cx="33375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Отдача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971800"/>
            <a:ext cx="33375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рост утилизации уже размещённого парка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без капитальных вложений в новый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2103120"/>
            <a:ext cx="3703320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9" y="2240279"/>
            <a:ext cx="3337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для оператора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9" y="2468879"/>
            <a:ext cx="33375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Экономика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971800"/>
            <a:ext cx="33375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снижение операционных издержек на перемещение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парка между точками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40480"/>
            <a:ext cx="11247120" cy="169164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31920"/>
            <a:ext cx="10972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Экономика операции по перемещению парка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06240"/>
            <a:ext cx="256032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1A1A1A"/>
                </a:solidFill>
                <a:latin typeface="Calibri"/>
              </a:rPr>
              <a:t>120 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физическая ребалансировка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06240"/>
            <a:ext cx="64008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ED0028"/>
                </a:solidFill>
                <a:latin typeface="Calibr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206240"/>
            <a:ext cx="2560320" cy="77724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ED0028"/>
                </a:solidFill>
                <a:latin typeface="Calibri"/>
              </a:rPr>
              <a:t>26,5 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983480"/>
            <a:ext cx="25603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средневзвешенная стоимость стимула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51960"/>
            <a:ext cx="411480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ED0028"/>
                </a:solidFill>
                <a:latin typeface="Calibri"/>
              </a:rPr>
              <a:t>= в 4,5× дешевле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41148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+ снижение нагрузки на людей и логистику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669280"/>
            <a:ext cx="11247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Механика — три типа стимулов: пользователям в точке высадки, в точке посадки, либо платное микрозадание внешнему исполнителю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УПС — один из инструментов реализации сценария S3, применяется в режимах атаки и удержания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KPI пилота: прирост поездок в пилотных зонах · доля физической ребалансировки · стоимость стимула на предотвращённую потерю · отклик пользователей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ФИНМОДЕЛЬ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14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Сценарий S3 окупается за счёт перенастройки портфеля: +25 млн ₽ EBITDA год 1, NPV +134 млн при WACC 20 %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6675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Эффект S3 vs S1 на 5 городах (4,17 млрд ₽ выручки), млн руб.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6675120" cy="41148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031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103120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Млн ₽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66751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146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Затраты S3:  управление, маркетинг, УПС, накладные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514600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C01A1A"/>
                </a:solidFill>
                <a:latin typeface="Calibri"/>
              </a:rPr>
              <a:t>−48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26079"/>
            <a:ext cx="6675120" cy="411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926079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Эффект R2:  прирост выручки СПб, Екб, Крд, Нск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2926079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37560"/>
            <a:ext cx="66751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3756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УПС-пилот в Екатеринбурге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3337560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49039"/>
            <a:ext cx="6675120" cy="411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749039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R3 Москва:  оптимизация OpEx (−2 % от выручки)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3749039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160520"/>
            <a:ext cx="667512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6052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R1/R2 малые города:  экономия капвложений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4160520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1E7A3C"/>
                </a:solidFill>
                <a:latin typeface="Calibri"/>
              </a:rPr>
              <a:t>+3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572000"/>
            <a:ext cx="6675120" cy="41148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572000"/>
            <a:ext cx="50292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Чистый эффект год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4572000"/>
            <a:ext cx="109728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+25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166360"/>
            <a:ext cx="6675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Чувствительность год 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486400"/>
            <a:ext cx="219456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532120"/>
            <a:ext cx="2194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Пессимистично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76072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C01A1A"/>
                </a:solidFill>
                <a:latin typeface="Calibri"/>
              </a:rPr>
              <a:t>−14 млн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97479" y="5486400"/>
            <a:ext cx="219456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97479" y="5532120"/>
            <a:ext cx="2194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База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97479" y="576072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+25 млн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59" y="5486400"/>
            <a:ext cx="219456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59" y="5532120"/>
            <a:ext cx="219456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Оптимистично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59" y="5760720"/>
            <a:ext cx="219456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1E7A3C"/>
                </a:solidFill>
                <a:latin typeface="Calibri"/>
              </a:rPr>
              <a:t>+64 млн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1691640"/>
            <a:ext cx="42976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07070"/>
                </a:solidFill>
                <a:latin typeface="Calibri"/>
              </a:rPr>
              <a:t>Показатели проекта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06640" y="2103120"/>
            <a:ext cx="42976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43800" y="2148839"/>
            <a:ext cx="219456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+25 млн 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67127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чистый эффект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248716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год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2926079"/>
            <a:ext cx="42976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43800" y="2971799"/>
            <a:ext cx="219456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ED0028"/>
                </a:solidFill>
                <a:latin typeface="Calibri"/>
              </a:rPr>
              <a:t>+80…+100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0" y="2990087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млн 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84080" y="3310127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год 2 при тиражировании УПС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3749039"/>
            <a:ext cx="42976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43800" y="3794759"/>
            <a:ext cx="219456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Calibri"/>
              </a:rPr>
              <a:t>+134 млн 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84080" y="381304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NPV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84080" y="4133087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WACC 20 %, горизонт 3 года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06640" y="4572000"/>
            <a:ext cx="42976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43800" y="4617720"/>
            <a:ext cx="219456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Calibri"/>
              </a:rPr>
              <a:t>≈ 8 мес.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84080" y="463600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Payback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95604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один пилотный сезон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06640" y="5394960"/>
            <a:ext cx="4297680" cy="777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5440680"/>
            <a:ext cx="2194560" cy="6858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Calibri"/>
              </a:rPr>
              <a:t>52 % / 243 %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84080" y="545896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ROI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84080" y="5779008"/>
            <a:ext cx="1828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год 1 / год 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Главный драйвер модели — перераспределение режимов, снижение OpEx в тяжёлых рынках и пилот УПС там, где есть локальный дефицит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ПЛАН + РИСКИ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15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Пилот в Екатеринбурге за 12 месяцев; 3 ключевых риска с готовыми компенсаторами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5486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Дорожная карта пилота УПС, 12 месяцев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606039"/>
            <a:ext cx="6035040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77240" y="2286000"/>
            <a:ext cx="640080" cy="64008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М1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12801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A1A1A"/>
                </a:solidFill>
                <a:latin typeface="Calibri"/>
              </a:rPr>
              <a:t>Диагностика</a:t>
            </a:r>
          </a:p>
        </p:txBody>
      </p:sp>
      <p:sp>
        <p:nvSpPr>
          <p:cNvPr id="10" name="Oval 9"/>
          <p:cNvSpPr/>
          <p:nvPr/>
        </p:nvSpPr>
        <p:spPr>
          <a:xfrm>
            <a:off x="2103120" y="2286000"/>
            <a:ext cx="640080" cy="64008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М2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017520"/>
            <a:ext cx="12801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A1A1A"/>
                </a:solidFill>
                <a:latin typeface="Calibri"/>
              </a:rPr>
              <a:t>Стимулы</a:t>
            </a:r>
          </a:p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A1A1A"/>
                </a:solidFill>
                <a:latin typeface="Calibri"/>
              </a:rPr>
              <a:t>пользователям</a:t>
            </a:r>
          </a:p>
        </p:txBody>
      </p:sp>
      <p:sp>
        <p:nvSpPr>
          <p:cNvPr id="12" name="Oval 11"/>
          <p:cNvSpPr/>
          <p:nvPr/>
        </p:nvSpPr>
        <p:spPr>
          <a:xfrm>
            <a:off x="3428999" y="2286000"/>
            <a:ext cx="640080" cy="64008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М3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017520"/>
            <a:ext cx="12801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A1A1A"/>
                </a:solidFill>
                <a:latin typeface="Calibri"/>
              </a:rPr>
              <a:t>Микрозадания</a:t>
            </a:r>
          </a:p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A1A1A"/>
                </a:solidFill>
                <a:latin typeface="Calibri"/>
              </a:rPr>
              <a:t>исполнителям</a:t>
            </a:r>
          </a:p>
        </p:txBody>
      </p:sp>
      <p:sp>
        <p:nvSpPr>
          <p:cNvPr id="14" name="Oval 13"/>
          <p:cNvSpPr/>
          <p:nvPr/>
        </p:nvSpPr>
        <p:spPr>
          <a:xfrm>
            <a:off x="4754880" y="2286000"/>
            <a:ext cx="640080" cy="64008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М4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017520"/>
            <a:ext cx="12801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A1A1A"/>
                </a:solidFill>
                <a:latin typeface="Calibri"/>
              </a:rPr>
              <a:t>Калибровка</a:t>
            </a:r>
          </a:p>
        </p:txBody>
      </p:sp>
      <p:sp>
        <p:nvSpPr>
          <p:cNvPr id="16" name="Oval 15"/>
          <p:cNvSpPr/>
          <p:nvPr/>
        </p:nvSpPr>
        <p:spPr>
          <a:xfrm>
            <a:off x="6080760" y="2286000"/>
            <a:ext cx="640080" cy="640080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М5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017520"/>
            <a:ext cx="1280160" cy="5029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1A1A1A"/>
                </a:solidFill>
                <a:latin typeface="Calibri"/>
              </a:rPr>
              <a:t>Итоги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520440"/>
            <a:ext cx="6858000" cy="4114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520440"/>
            <a:ext cx="6858000" cy="41148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Год 2 →  тиражирование УПС на СПб, Краснодар, Новосибирск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1691640"/>
            <a:ext cx="41148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Карта рисков:  вероятность × влияние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2103120"/>
            <a:ext cx="1828800" cy="18288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7772400" y="3017520"/>
            <a:ext cx="1828800" cy="0"/>
          </a:xfrm>
          <a:prstGeom prst="line">
            <a:avLst/>
          </a:prstGeom>
          <a:ln w="63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686800" y="2103120"/>
            <a:ext cx="0" cy="1828800"/>
          </a:xfrm>
          <a:prstGeom prst="line">
            <a:avLst/>
          </a:prstGeom>
          <a:ln w="6350">
            <a:solidFill>
              <a:srgbClr val="9A9A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772400" y="1874519"/>
            <a:ext cx="1463040" cy="1828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1">
                <a:solidFill>
                  <a:srgbClr val="707070"/>
                </a:solidFill>
                <a:latin typeface="Calibri"/>
              </a:rPr>
              <a:t>↑  Вероятность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977639"/>
            <a:ext cx="1280160" cy="1828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i="1">
                <a:solidFill>
                  <a:srgbClr val="707070"/>
                </a:solidFill>
                <a:latin typeface="Calibri"/>
              </a:rPr>
              <a:t>Влияние  →</a:t>
            </a:r>
          </a:p>
        </p:txBody>
      </p:sp>
      <p:sp>
        <p:nvSpPr>
          <p:cNvPr id="26" name="Oval 25"/>
          <p:cNvSpPr/>
          <p:nvPr/>
        </p:nvSpPr>
        <p:spPr>
          <a:xfrm>
            <a:off x="8933688" y="2304287"/>
            <a:ext cx="329184" cy="329184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7" name="Oval 26"/>
          <p:cNvSpPr/>
          <p:nvPr/>
        </p:nvSpPr>
        <p:spPr>
          <a:xfrm>
            <a:off x="8979408" y="3127247"/>
            <a:ext cx="329184" cy="329184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8" name="Oval 27"/>
          <p:cNvSpPr/>
          <p:nvPr/>
        </p:nvSpPr>
        <p:spPr>
          <a:xfrm>
            <a:off x="8065008" y="2852927"/>
            <a:ext cx="329184" cy="329184"/>
          </a:xfrm>
          <a:prstGeom prst="ellipse">
            <a:avLst/>
          </a:prstGeom>
          <a:solidFill>
            <a:srgbClr val="ED0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023360"/>
            <a:ext cx="411480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707070"/>
                </a:solidFill>
                <a:latin typeface="Calibri"/>
              </a:rPr>
              <a:t>3 ключевых из 6 — остальные в Приложении к ВКР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2976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Ключевые риски и компенсаторы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3703320" cy="1645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663440"/>
            <a:ext cx="502920" cy="164592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663440"/>
            <a:ext cx="502920" cy="1645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754879"/>
            <a:ext cx="30175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Регуляторные шоки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074920"/>
            <a:ext cx="30175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C01A1A"/>
                </a:solidFill>
                <a:latin typeface="Calibri"/>
              </a:rPr>
              <a:t>ужесточение по 1–2 городам одновременно может выбить из плана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5623559"/>
            <a:ext cx="301752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встроенные правила перехода R2 → R3 ограниченное;  юр.-операционный мониторинг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51959" y="4663440"/>
            <a:ext cx="3703320" cy="1645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51959" y="4663440"/>
            <a:ext cx="502920" cy="164592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59" y="4663440"/>
            <a:ext cx="502920" cy="1645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4754879"/>
            <a:ext cx="30175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Ошибка диагностики режима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46320" y="5074920"/>
            <a:ext cx="30175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C01A1A"/>
                </a:solidFill>
                <a:latin typeface="Calibri"/>
              </a:rPr>
              <a:t>неверная классификация города → избыточный OpEx или упущенный рост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5623559"/>
            <a:ext cx="301752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ежесезонный пересмотр режима по KPI:  выручка/самокат, доля поездок, стоимость покрытия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46719" y="4663440"/>
            <a:ext cx="3703320" cy="1645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19" y="4663440"/>
            <a:ext cx="502920" cy="164592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19" y="4663440"/>
            <a:ext cx="502920" cy="1645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1080" y="4754879"/>
            <a:ext cx="30175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Кадровая координация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41080" y="5074920"/>
            <a:ext cx="3017520" cy="5486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C01A1A"/>
                </a:solidFill>
                <a:latin typeface="Calibri"/>
              </a:rPr>
              <a:t>дефицит региональной экспертизы при параллельном запуске нескольких режимов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80" y="5623559"/>
            <a:ext cx="301752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поэтапное внедрение от 5 городов к расширенному портфелю;  выделенная функция портфельного управления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707070"/>
                </a:solidFill>
                <a:latin typeface="Calibri"/>
              </a:rPr>
              <a:t>Сценарий S3 не требует одномоментной перестройки — запускается через пилот, расширяется при подтверждении экономики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ВЫВОД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16 /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A1A1A"/>
                </a:solidFill>
                <a:latin typeface="Calibri"/>
              </a:rPr>
              <a:t>Разработанная система решает исходную управленческую проблему МТС Юрент: +25 млн EBITDA год 1, +80…100 млн год 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63040"/>
            <a:ext cx="11274552" cy="0"/>
          </a:xfrm>
          <a:prstGeom prst="line">
            <a:avLst/>
          </a:prstGeom>
          <a:ln w="19050">
            <a:solidFill>
              <a:srgbClr val="ED00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1A1A1A"/>
                </a:solidFill>
                <a:latin typeface="Calibri"/>
              </a:rPr>
              <a:t>От проблемы — к решению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548640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03120"/>
            <a:ext cx="54864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БЫЛО:  исходная управленческая проблема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512064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Экстенсивная модель роста через парк и географию теряет эффективность на зрелом и неоднородном рынке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4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Метрики: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9039"/>
            <a:ext cx="5120640" cy="594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01A1A"/>
                </a:solidFill>
                <a:latin typeface="Calibri"/>
              </a:rPr>
              <a:t>–  спрос РФ −6 % впервые за 5 лет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01A1A"/>
                </a:solidFill>
                <a:latin typeface="Calibri"/>
              </a:rPr>
              <a:t>–  EBITDA-маржа лидера 42 → 28 %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01A1A"/>
                </a:solidFill>
                <a:latin typeface="Calibri"/>
              </a:rPr>
              <a:t>–  утилизация по городам различается в 4×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89320" y="3246120"/>
            <a:ext cx="228600" cy="0"/>
          </a:xfrm>
          <a:prstGeom prst="line">
            <a:avLst/>
          </a:prstGeom>
          <a:ln w="38100">
            <a:solidFill>
              <a:srgbClr val="ED0028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263640" y="2103120"/>
            <a:ext cx="5486400" cy="228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5486400" cy="45720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10312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СТАЛО:  предложенное решение и его эффект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697480"/>
            <a:ext cx="5120640" cy="7772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Дифференцированное управление портфелем регионов: разным городам — разные режимы по фактическим KPI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52044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Финансовый эффект: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749039"/>
            <a:ext cx="5120640" cy="5943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E7A3C"/>
                </a:solidFill>
                <a:latin typeface="Calibri"/>
              </a:rPr>
              <a:t>–  +25 млн ₽ EBITDA в год 1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E7A3C"/>
                </a:solidFill>
                <a:latin typeface="Calibri"/>
              </a:rPr>
              <a:t>–  +80…100 млн ₽ в год 2 при тиражировании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E7A3C"/>
                </a:solidFill>
                <a:latin typeface="Calibri"/>
              </a:rPr>
              <a:t>–  NPV +134 млн при WACC 20 %, payback ≈ 8 мес.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572000"/>
            <a:ext cx="11247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07070"/>
                </a:solidFill>
                <a:latin typeface="Calibri"/>
              </a:rPr>
              <a:t>Что было сделано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92040"/>
            <a:ext cx="2697480" cy="868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83479"/>
            <a:ext cx="23317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1.  Диагностирована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управленческая проблема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4892040"/>
            <a:ext cx="2697480" cy="868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20440" y="4983479"/>
            <a:ext cx="23317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2.  Сопоставлены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530352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3 сценария по 5 критериям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892040"/>
            <a:ext cx="2697480" cy="868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983479"/>
            <a:ext cx="23317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3.  Предложен инструмент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30352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управление покрытием через стимулы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98280" y="4892040"/>
            <a:ext cx="2697480" cy="86868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81160" y="4983479"/>
            <a:ext cx="23317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ED0028"/>
                </a:solidFill>
                <a:latin typeface="Calibri"/>
              </a:rPr>
              <a:t>4.  Выполнена оценка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5303520"/>
            <a:ext cx="233172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финмодель + KPI + риски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>
                <a:solidFill>
                  <a:srgbClr val="ED0028"/>
                </a:solidFill>
                <a:latin typeface="Calibri"/>
              </a:rPr>
              <a:t>Спасибо за внимание · готов к вопросам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07070"/>
                </a:solidFill>
                <a:latin typeface="Calibri"/>
              </a:rPr>
              <a:t>BACKUP  ·  КРИТЕРИИ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1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1A1A"/>
                </a:solidFill>
                <a:latin typeface="Calibri"/>
              </a:rPr>
              <a:t>Пять критериев оценки стратегических сценариев — теоретическая основа и измерение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1905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2471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1. Ресурсно-теоретическая защитимость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5486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Wernerfelt 1984; Barney 1991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1663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Опирается ли сценарий на актуальную ресурсную базу оператора и не требует радикальной перестройки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112471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2. Согласованность с динамическими способностями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486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Teece, Pisano, Shuen 1997; Teece 2007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788920"/>
            <a:ext cx="51663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Способность сценария воспроизводимо перестраивать конфигурацию ресурсов под меняющиеся условия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11880"/>
            <a:ext cx="112471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0332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3. Операционная исполнимость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69080"/>
            <a:ext cx="5486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Sareen, Remme, Haarstad 2021; Moran 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749040"/>
            <a:ext cx="51663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Реализуемость сценария при текущей операционной зрелости оператора и регуляторных ограничениях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72000"/>
            <a:ext cx="112471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63440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4. Финансово-операционный эффект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29200"/>
            <a:ext cx="5486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Aarhaug et al. 2023; Shah et al. 2022; Cennamo 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709160"/>
            <a:ext cx="51663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Ожидаемый прирост EBITDA на портфеле городов в горизонте 12 месяцев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623559"/>
            <a:ext cx="54864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1A1A1A"/>
                </a:solidFill>
                <a:latin typeface="Calibri"/>
              </a:rPr>
              <a:t>5. Профиль риска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548640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Groth et al. 2025; Coenegrachts et al. 2024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669280"/>
            <a:ext cx="5166360" cy="6400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Структура и величина рисков (поведенческих, технологических, регуляторных, конкурентных)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07070"/>
                </a:solidFill>
                <a:latin typeface="Calibri"/>
              </a:rPr>
              <a:t>BACKUP  ·  МАТРИЦА СЦЕНАРИЕВ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2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1A1A"/>
                </a:solidFill>
                <a:latin typeface="Calibri"/>
              </a:rPr>
              <a:t>Полная оценка S1, S2, S3 по пяти критериям с обоснованием каждой ячейки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1905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57200" y="1691640"/>
            <a:ext cx="11247120" cy="7132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Критерий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783080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S1 (единая логика)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783080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S2 (единый режим + адаптация)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783080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S3 (диверсификация)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04872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496312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1. Ресурсная защитимость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96312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Использует ресурсы, не делает источником преимущества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496312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Опирается на операционный блок, недоиспользует экосистему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496312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D0028"/>
                </a:solidFill>
                <a:latin typeface="Calibri"/>
              </a:rPr>
              <a:t>Дифференцированно задействует все блоки способностей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18104"/>
            <a:ext cx="11247120" cy="71323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209544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2. Динамические способности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209544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Не требует различения рынков — способности не задействованы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3209544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Адаптация внутри одного режима, не на портфельном уровне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209544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D0028"/>
                </a:solidFill>
                <a:latin typeface="Calibri"/>
              </a:rPr>
              <a:t>Требует и тренирует воспроизводимую процедуру различения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31335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922775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3. Операционная исполнимость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922775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Уже работает (инерция), но эффективность снижается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922775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Высокая (один режим везде, ниже требования к координации)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3922775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D0028"/>
                </a:solidFill>
                <a:latin typeface="Calibri"/>
              </a:rPr>
              <a:t>Средняя — требует поддержки нескольких режимов параллельно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544568"/>
            <a:ext cx="11247120" cy="713232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636008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4. Финансовый эффект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636008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Стагнация выручки/самокат, ухудшение в жёсткой регуляторике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636008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Удержание маржи, упущенный рост в R2-городах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4636008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D0028"/>
                </a:solidFill>
                <a:latin typeface="Calibri"/>
              </a:rPr>
              <a:t>Максимизация отдачи в условиях неоднородности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57800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56032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A1A1A"/>
                </a:solidFill>
                <a:latin typeface="Calibri"/>
              </a:rPr>
              <a:t>5. Профиль риска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5349240"/>
            <a:ext cx="2468879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Концентрация: ужесточение в нескольких городах = удар по портфелю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349240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Концентр. в R3: невозможность атаковать при возможностях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5349240"/>
            <a:ext cx="2743200" cy="530352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ED0028"/>
                </a:solidFill>
                <a:latin typeface="Calibri"/>
              </a:rPr>
              <a:t>Распределён между режимами; добавляется риск координации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07070"/>
                </a:solidFill>
                <a:latin typeface="Calibri"/>
              </a:rPr>
              <a:t>BACKUP  ·  ФИНМОДЕЛЬ — ДЕТАЛИ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3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1A1A"/>
                </a:solidFill>
                <a:latin typeface="Calibri"/>
              </a:rPr>
              <a:t>Финансовая модель: разбивка затрат и эффектов, источник каждого числа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1905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Затраты года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54864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Блок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1031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Млн 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1031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Источник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5603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A. Региональное управление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5603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−22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5603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3 менеджера + 3 аналитика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1752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0175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B. Маркетинг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0175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−7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30175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A/B-тесты, креатив по 3 режимам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7472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747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C. УПС (вкл. capex 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4747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−16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4747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IT + команда пилота + стимулы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9319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D. Накладные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39319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−3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9319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обучение, методич. сопровождение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389120"/>
            <a:ext cx="548640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389120"/>
            <a:ext cx="256032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Итого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3891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ED0028"/>
                </a:solidFill>
                <a:latin typeface="Calibri"/>
              </a:rPr>
              <a:t>−48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4389120"/>
            <a:ext cx="173736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45352" y="1691640"/>
            <a:ext cx="502920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Эффекты года 1 (EBITDA)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2103120"/>
            <a:ext cx="5486400" cy="4572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36792" y="21031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Эффект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31352" y="21031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Млн 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54312" y="21031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Расчёт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45352" y="256032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25603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1. R2-прирост выручки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31352" y="25603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1E7A3C"/>
                </a:solidFill>
                <a:latin typeface="Calibri"/>
              </a:rPr>
              <a:t>+12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4312" y="25603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+3 п.п. × 1 544 × 25 % маржа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45352" y="301752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36792" y="30175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2. УПС-пилот Екб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1352" y="30175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1E7A3C"/>
                </a:solidFill>
                <a:latin typeface="Calibri"/>
              </a:rPr>
              <a:t>+6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54312" y="30175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экономия 3,5 + выручка 8,2 × 25 %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2" y="3474720"/>
            <a:ext cx="5486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36792" y="34747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3. R3-Москва OpEx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31352" y="34747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1E7A3C"/>
                </a:solidFill>
                <a:latin typeface="Calibri"/>
              </a:rPr>
              <a:t>+52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54312" y="34747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−2 % от выручки Москвы 2 626 млн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45352" y="3931920"/>
            <a:ext cx="5486400" cy="4572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36792" y="39319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4. Малые города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31352" y="39319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1E7A3C"/>
                </a:solidFill>
                <a:latin typeface="Calibri"/>
              </a:rPr>
              <a:t>+3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54312" y="39319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1A1A1A"/>
                </a:solidFill>
                <a:latin typeface="Calibri"/>
              </a:rPr>
              <a:t>отказ от убыточных локаций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45352" y="4389120"/>
            <a:ext cx="5486400" cy="457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36792" y="4389120"/>
            <a:ext cx="2011679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1A1A1A"/>
                </a:solidFill>
                <a:latin typeface="Calibri"/>
              </a:rPr>
              <a:t>Итого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31352" y="4389120"/>
            <a:ext cx="64008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1" i="0">
                <a:solidFill>
                  <a:srgbClr val="1E7A3C"/>
                </a:solidFill>
                <a:latin typeface="Calibri"/>
              </a:rPr>
              <a:t>+73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54312" y="4389120"/>
            <a:ext cx="2286000" cy="45720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5074920"/>
            <a:ext cx="11274552" cy="777240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166360"/>
            <a:ext cx="3657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Чистый эффект год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413248"/>
            <a:ext cx="36576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+25 млн 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5166360"/>
            <a:ext cx="3657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Чувствительность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5413248"/>
            <a:ext cx="36576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−14  /  +25  /  +64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5166360"/>
            <a:ext cx="36576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Год 2 при тиражировании УПС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86800" y="5413248"/>
            <a:ext cx="365760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+80…+100 млн ₽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989320"/>
            <a:ext cx="365760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6035040"/>
            <a:ext cx="33832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NPV  (WACC 20 %, 3 года)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6263640"/>
            <a:ext cx="33832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ED0028"/>
                </a:solidFill>
                <a:latin typeface="Calibri"/>
              </a:rPr>
              <a:t>+134 млн 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251960" y="5989320"/>
            <a:ext cx="365760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34840" y="6035040"/>
            <a:ext cx="33832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Payback (простой)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34840" y="6263640"/>
            <a:ext cx="33832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ED0028"/>
                </a:solidFill>
                <a:latin typeface="Calibri"/>
              </a:rPr>
              <a:t>≈ 8 месяцев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046720" y="5989320"/>
            <a:ext cx="365760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29600" y="6035040"/>
            <a:ext cx="33832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ROI год 1 / год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0" y="6263640"/>
            <a:ext cx="338328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ED0028"/>
                </a:solidFill>
                <a:latin typeface="Calibri"/>
              </a:rPr>
              <a:t>52 %  /  243 %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07070"/>
                </a:solidFill>
                <a:latin typeface="Calibri"/>
              </a:rPr>
              <a:t>BACKUP  ·  УПС — РАСЧЁТНАЯ ЦЕПОЧКА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4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1A1A"/>
                </a:solidFill>
                <a:latin typeface="Calibri"/>
              </a:rPr>
              <a:t>УПС — расчёт по Екатеринбургу (базовый сценарий B) и 4 KPI пилота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1905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Расчётная цепочка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Выручка сезона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103120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136 млн 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03120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1 819 014 поездок × 75 ₽ средний чек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87168"/>
            <a:ext cx="11247120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87168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OpEx сезона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2487168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75 млн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выручка × 55 % OpEx-доля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71215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871215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Ребалансировка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871215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22,5 млн 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871215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OpEx × 30 % доля ребалансировки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55263"/>
            <a:ext cx="11247120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55263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Операций ребаланс.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3255263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187,6 тыс.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255263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22 500 000 / 120 ₽ за операцию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639311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639311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Замещение (20 %)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3639311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37,5 тыс.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39311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базовый сценарий 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23359"/>
            <a:ext cx="11247120" cy="384048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023359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Чистая экономия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360" y="4023359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3,5 млн 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4023359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(120 − 26,5) × 37,5 тыс.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407407"/>
            <a:ext cx="1124712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407407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Доп. выручка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407407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ED0028"/>
                </a:solidFill>
                <a:latin typeface="Calibri"/>
              </a:rPr>
              <a:t>8,2 млн 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407407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1 819 014 × 6 % × 75 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791455"/>
            <a:ext cx="11247120" cy="384048"/>
          </a:xfrm>
          <a:prstGeom prst="rect">
            <a:avLst/>
          </a:prstGeom>
          <a:solidFill>
            <a:srgbClr val="ED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791455"/>
            <a:ext cx="32004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EBITDA-вклад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23360" y="4791455"/>
            <a:ext cx="2286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≈ 6 млн 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791455"/>
            <a:ext cx="4572000" cy="384048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3,5 + 8,2 × 25 % маржа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486400"/>
            <a:ext cx="11247120" cy="32004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1A1A1A"/>
                </a:solidFill>
                <a:latin typeface="Calibri"/>
              </a:rPr>
              <a:t>4 KPI пилота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8978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9436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Прирост поездок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61904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в пилотных зонах vs база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91840" y="58978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29000" y="59436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Снижение ребалансировки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61904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доля в общем объёме операций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0" y="58978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63640" y="59436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Стоимость стимула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61904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на 1 предотвращённую потерю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61120" y="5897880"/>
            <a:ext cx="27432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98280" y="5943600"/>
            <a:ext cx="24688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Отклик пользователей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6190488"/>
            <a:ext cx="246888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707070"/>
                </a:solidFill>
                <a:latin typeface="Calibri"/>
              </a:rPr>
              <a:t>доля принятых стимулов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457200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07070"/>
                </a:solidFill>
                <a:latin typeface="Calibri"/>
              </a:rPr>
              <a:t>BACKUP  ·  ДЕКЛАРАЦИЯ 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560" y="292608"/>
            <a:ext cx="64008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9A9A9A"/>
                </a:solidFill>
                <a:latin typeface="Calibri"/>
              </a:rPr>
              <a:t>5 /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A1A1A"/>
                </a:solidFill>
                <a:latin typeface="Calibri"/>
              </a:rPr>
              <a:t>Декларация использования ИИ — что и где применялось при подготовке ВКР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19050">
            <a:solidFill>
              <a:srgbClr val="707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Инструменты: ChatGPT (OpenAI, GPT-4o, GPT-5) и Claude (Anthropic, Sonnet 4, Opus 4.7) через стандартные веб-интерфейсы и Cursor 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77840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331720"/>
            <a:ext cx="5577840" cy="502920"/>
          </a:xfrm>
          <a:prstGeom prst="rect">
            <a:avLst/>
          </a:prstGeom>
          <a:solidFill>
            <a:srgbClr val="1E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395728"/>
            <a:ext cx="5577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✓   ГДЕ ИСПОЛЬЗОВАЛСЯ 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7180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Поиск и оформление литературы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4612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фильтрация источников, ГОСТ-форматирование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52044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Структурирование черновиков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9476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формулировки задач, структура глав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6908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Редактура и стилистика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34340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академический стиль, грамматика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1772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Перевод аннотации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9204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русский → английский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16635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Автоматизация расчётов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4067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Python для CSV и Excel-модели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1499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✓  Сборка финального .docx и .xlsx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98931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форматирование, проверка консистентности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2331720"/>
            <a:ext cx="5577840" cy="3931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2331720"/>
            <a:ext cx="5577840" cy="502920"/>
          </a:xfrm>
          <a:prstGeom prst="rect">
            <a:avLst/>
          </a:prstGeom>
          <a:solidFill>
            <a:srgbClr val="C0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2395728"/>
            <a:ext cx="5577840" cy="36576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✗   ГДЕ ИИ НЕ ПРИМЕНЯЛСЯ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97180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Постановка проблемы и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24612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авторская формулировка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52044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Интерпретация интервью с экспертами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79476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обобщённые тезисы передавались, не расшифровки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6908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Выбор сценария S3 и режимов R1–R3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34340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авторские стратегические решения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617720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Концепция и параметры УПС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892040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авторская разработка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16635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Допущения и параметры финмодели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544067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выбор автора, обоснованы в тексте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714999"/>
            <a:ext cx="512064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✗  Внутренние данные МТС Юрент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989319"/>
            <a:ext cx="4846320" cy="22860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07070"/>
                </a:solidFill>
                <a:latin typeface="Calibri"/>
              </a:rPr>
              <a:t>только в обезличенном агрегированном виде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707070"/>
                </a:solidFill>
                <a:latin typeface="Calibri"/>
              </a:rPr>
              <a:t>Все сгенерированные с участием ИИ фрагменты проверены и отредактированы автором. Ответственность за корректность и интерпретацию — автора ВКР.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