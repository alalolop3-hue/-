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Стартовая фраза (учить наизусть):</a:t>
            </a:r>
          </a:p>
          <a:p/>
          <a:p>
            <a:r>
              <a:t>«Добрый день, уважаемые члены государственной экзаменационной комиссии. Меня зовут Пётр Камашев, я представляю выпускную квалификационную работу на тему "Конкурентная стратегия МТС Юрент на региональных рынках кикшеринга в России". Научный руководитель — профессор Иван Александрович Егоров.</a:t>
            </a:r>
          </a:p>
          <a:p/>
          <a:p>
            <a:r>
              <a:t>Центральный вопрос работы — как МТС Юренту перейти от роста через расширение парка к управлению отдачей уже сформированного регионального портфеля. Работа выстроена как цепочка из пяти шагов: диагноз города, выбор режима, рычаги в сезоне, KPI и эффект».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текущая логика расширения исчерпала источник нового эффекта. «Объект исследования — МТС Юрент. Управленческая проблема состоит в том, что российский рынок кикшеринга в 2025 году впервые показал отрицательную динамику — поездки сократились на 6 %, выручка лидера Whoosh упала на 13 %, а EBITDA-маржа кикшеринга снизилась с 42 до 28 %. На этом фоне региональные рынки расходятся по структурным условиям. Единая логика присутствия в портфеле теряет состоятельность, а формализованной процедуры выбора режима по городам у компании сегодня нет».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вся работа выстроена как линейная цепочка от диагностики к измеримому эффекту. «Цель работы — разработать аналитическую систему стратегического выбора и применить её к МТС Юрент. Логика работы: внешняя среда → внутренняя диагностика → стратегические альтернативы → выбор сценария → проектное наполнение → оценка эффекта. За следующие тринадцать минут я покажу, как семь задач складываются в одно решение».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выводы опираются на сочетание академической рамки, экспертной перспективы и внутренней операционной отчётности. «Теоретическая основа — пять линий: ресурсная теория фирмы, концепция динамических способностей, теория платформенной конкуренции, эмпирические исследования рынков шеринговой микромобильности и системная экономика Клейнера. Главный закрытый источник — внутренние поквартальные данные МТС Юрент по 86 субъектам РФ за 2024 и девять месяцев 2025 года. Отдельно отмечу: для обработки источников, форматирования и редактуры я использовал ChatGPT и Claude; стратегические решения, интерпретация и параметры финмодели — авторские; декларация — в Приложении А работы».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экстенсивная модель расширения не выдерживает экономики покрытия в новых условиях. «На объект одновременно воздействуют четыре фактора. Рынок: поездки на рынке снизились на 6 %, у лидера Whoosh — на 7 %, маржа кикшеринга упала с 42 до 28 %. Капитал: ключевая ставка ЦБ 21 % существенно повышает стоимость финансирования парка со сроком службы два-три сезона. Регуляторика: режимы расходятся от mos.ru-верификации в Москве до угроз расторжения в Екатеринбурге. Сезон 2025 сжался — начался не в марте, а в июне. Совокупный эффект: прежняя логика расширения парка и географии перестаёт быть достаточным основанием конкурентной борьбы».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единая стратегия по такому портфелю физически невозможна — параметры расходятся в разные стороны. «На демонстрационном портфеле из пяти городов разрыв утилизации между крайними точками — почти в четыре раза, динамика YoY от −10 до +129 %, регуляторика от мягкой до жёсткой. На той же географии и предварительная гипотеза режима оказывается разной — это и есть основание для портфельной логики, которую я разворачиваю дальше».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гэп с Whoosh возник не из-за меньшего парка, а из-за более низкой эффективности уже размещённого парка. «Конкурентный анализ показал, что на российском рынке к 2025 году сложилась олигополия трёх операторов с долей 96,8 %. Игроки различаются стратегической логикой. У МТС Юрент системный гэп: выручка на самокат 49 тысяч рублей в год против 67 тысяч у Whoosh. В разрезе городов разрыв различается в три раза — от 1 073 поездок на самокат в год в Москве до 277 в Новосибирске. Закрытие гэпа требует не универсального наращивания парка, а дифференциации действий по типам региональных рынков».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ресурсы есть; проблема — в способе их превращения в результат на неоднородной географии. «Внутренний анализ показал, что Юрент уже обладает ресурсами для дифференцированной стратегии: экосистема МТС, технологическая платформа Eleven, парк 120 тыс. СИМ в 187 локациях. Однако управленческая логика остаётся централизованной, формализованной процедуры назначения режимов городам нет. В терминах динамических способностей — операционный блок развит, способность воспроизводимо перестраивать ресурсы под изменения рынка находится в начальной зрелости. Проблема не в отсутствии потенциала, а в том, что текущая модель не превращает имеющиеся ресурсы в устойчивый региональный результат».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разрыв между неоднородностью рынков и единообразием управленческой логики требует системного, а не локального ответа. «На основании внешнего и внутреннего анализа стратегический диагноз формулируется следующим образом. Ключевой разрыв состоит в том, что МТС Юрент работает с принципиально неоднородной портфельной средой через единообразную управленческую логику. Этот разрыв вызван тремя причинами: переходом рынка к зрелой стадии, расхождением региональных условий по структурным факторам и слабой формализацией регионального управления внутри компании. Если сохранить текущую модель, оператор столкнётся с ухудшением экономики покрытия. Для систематической работы с этой неоднородностью я ввёл два инструмента: трёхуровневую иерархию факторов различения рынков и пять критериев оценки стратегических сценариев».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выбор сценария — не голосование по одному критерию, а согласованное сопоставление по пяти. «На основе диагноза я рассмотрел три стратегических альтернативы — S1, S2, S3. Сравнение проводилось по пяти критериям, выведенным из теоретической основы. Результаты показали, что S3 сильнее альтернатив по четырём критериям из пяти. Уступает только по операционной исполнимости в горизонте перестройки, поскольку требует одновременной поддержки нескольких режимов. Этот проигрыш не блокирует выбор: для него предусмотрены управленческие компенсаторы — поэтапное внедрение, функция портфельного управления и единообразие на уровне продукта».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S3 — не статическая карта городов, а воспроизводимая процедура; именно это сложно скопировать конкуренту. «Выбранная стратегия — диверсификация режимов по портфелю. Её суть в том, что оператор переходит от единой логики ко всем рынкам к назначению каждому рынку режима по фактическим параметрам и регулярному пересмотру этого назначения. На демонстрационном портфеле из пяти городов S3 операционализируется так: Москва — режим удержания в ограниченной форме, Санкт-Петербург — атака с переходом к удержанию, Екатеринбург — атака с пилотом проектного инструмента, Краснодар и Новосибирск — гибкие комбинации R2 и R3 по фактической позиции».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три режима покрывают полный жизненный цикл; однородные поля описания делают решения сопоставимыми. «Содержательное наполнение S3 — система трёх режимов конкурентных действий. R1 "Плацдарм" — закрепление на новом рынке без атаки. R2 "Атака" — рост доли в позиции преследователя при наличии резерва плотности. R3 "Удержание" — защита позиции при приоритете эффективности. Каждый режим описан через однородный набор полей: цель, условия применения, рычаги, KPI, ограничения. Это и делает сопоставимыми диагностики разных городов».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проектный инструмент адресует ключевой фактор успеха — доступность покрытия — и при этом дешевле физической ребалансировки. «Проектный инструмент я назвал "Управление покрытием через стимулы". Это механизм, который замещает часть физической ребалансировки тремя типами стимулов: на стороне точки высадки, на стороне точки посадки и оплачиваемого микрозадания внешнему исполнителю. Ключевая цифра: средневзвешенная стоимость стимула — 26,5 рубля за операцию, стоимость физической ребалансировки — 120 рублей за операцию по данным эксперта МТС. Инструмент в 4,5 раза дешевле и применяется в режимах атаки и удержания».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проект окупается за один сезон при минимальной капитальной интенсивности. «Затраты года 1 — около 48 миллионов рублей; capex составляет всего 8 миллионов на IT-инфраструктуру УПС, остальное операционные. Эффекты — 73 миллиона EBITDA: 12 от прироста выручки в R2-городах, 6 от пилота УПС в Екатеринбурге, 52 от оптимизации OpEx в Москве и 3 от отказа от инвестиций в нерентабельные локации. Чистый эффект года 1 — плюс 25 миллионов; чувствительность от минус 14 до плюс 64. Год 2 при тиражировании УПС — плюс 80–100 миллионов. NPV при WACC 20 % на трёхлетнем горизонте — плюс 134 миллиона, период окупаемости около восьми месяцев. Это сезон одного пилота».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Ключевая мысль: S3 не требует одномоментной перестройки; запускается через пилот, у каждого риска есть управленческий ответ. «Внедрение S3 идёт через пилот УПС в Екатеринбурге — пять месяцев от диагностики до итогов. С года 2 — тиражирование на четыре города R2-кластера. Шесть рисков, каждый с управленческим ответом. Главный тезис: S3 не требует одномоментной перестройки всей компании, запускается через пилот и расширяется при подтверждении экономики».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Финальная фраза: «Если кратко подвести итог работы. Управленческая проблема МТС Юрент состояла в том, что для портфеля из 187 локаций нет формализованной процедуры выбора режима присутствия. Проведённая диагностика показала, что причина — в исчерпании источника новой ценности от единой логики расширения. Сопоставление трёх сценариев по пяти критериям обосновало выбор стратегии диверсификации режимов. В её рамках предложен проектный инструмент УПС и построена портфельная финансовая модель с эффектом +25 миллионов в год 1 и +80–100 миллионов в год 2. Главный практический вклад — рабочий инструментарий для МТС Юрент. Спасибо за внимание, готов к вопросам».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64592"/>
            <a:ext cx="5029200" cy="6693408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548640"/>
            <a:ext cx="41148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ВКР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411480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Управление</a:t>
            </a:r>
          </a:p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FFFFFF"/>
                </a:solidFill>
                <a:latin typeface="Calibri"/>
              </a:rPr>
              <a:t>бизнесом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035040"/>
            <a:ext cx="41148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FFFFFF"/>
                </a:solidFill>
                <a:latin typeface="Calibri"/>
              </a:rPr>
              <a:t>Москва ·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822960"/>
            <a:ext cx="6400800" cy="2286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Конкурентная стратегия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МТС Юрент на региональных</a:t>
            </a:r>
          </a:p>
          <a:p>
            <a:pPr algn="l">
              <a:lnSpc>
                <a:spcPct val="115000"/>
              </a:lnSpc>
            </a:pPr>
            <a:r>
              <a:rPr sz="2800" b="1" i="0">
                <a:solidFill>
                  <a:srgbClr val="1A1A1A"/>
                </a:solidFill>
                <a:latin typeface="Calibri"/>
              </a:rPr>
              <a:t>рынках кикшеринга в России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291840"/>
            <a:ext cx="640080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595959"/>
                </a:solidFill>
                <a:latin typeface="Calibri"/>
              </a:rPr>
              <a:t>Как МТС Юренту перейти от роста через парк к управлению отдачей регионального портфеля?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0" y="4572000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0" y="4690872"/>
            <a:ext cx="11887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Диагноз города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20840" y="4572000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20840" y="4690872"/>
            <a:ext cx="11887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Выбор режима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955279" y="4572000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955279" y="4690872"/>
            <a:ext cx="11887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Рычаги в сезоне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89719" y="4572000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89719" y="4690872"/>
            <a:ext cx="11887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KPI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424159" y="4572000"/>
            <a:ext cx="118872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424159" y="4690872"/>
            <a:ext cx="11887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900" b="1" i="0">
                <a:solidFill>
                  <a:srgbClr val="1A1A1A"/>
                </a:solidFill>
                <a:latin typeface="Calibri"/>
              </a:rPr>
              <a:t>Эффект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0" y="5303520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Автор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0" y="5577840"/>
            <a:ext cx="3200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Камашев Пётр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5303520"/>
            <a:ext cx="3657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Научный руководитель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0" y="557784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1A1A1A"/>
                </a:solidFill>
                <a:latin typeface="Calibri"/>
              </a:rPr>
              <a:t>профессор И. А. Егоров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Рынок впервые сжался, а регионы расходятся — единая логика МТС Юрент по 187 локациям перестаёт работать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37360"/>
            <a:ext cx="3703320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2011679"/>
            <a:ext cx="370332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ED0028"/>
                </a:solidFill>
                <a:latin typeface="Calibri"/>
              </a:rPr>
              <a:t>−6 %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154680"/>
            <a:ext cx="37033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поездок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566160"/>
            <a:ext cx="3154679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Рынок РФ в 2025 — впервые отрицательная динамика после 5 лет роста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737360"/>
            <a:ext cx="3703320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297680" y="2011679"/>
            <a:ext cx="370332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ED0028"/>
                </a:solidFill>
                <a:latin typeface="Calibri"/>
              </a:rPr>
              <a:t>42 → 28 %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97680" y="3154680"/>
            <a:ext cx="37033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EBITDA-маржа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566160"/>
            <a:ext cx="3154679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Лидер Whoosh: выручка −13 %, маржа кикшеринга обвалилась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737360"/>
            <a:ext cx="3703320" cy="2743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2011679"/>
            <a:ext cx="3703320" cy="10972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5600" b="1" i="0">
                <a:solidFill>
                  <a:srgbClr val="ED0028"/>
                </a:solidFill>
                <a:latin typeface="Calibri"/>
              </a:rPr>
              <a:t>4×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3154680"/>
            <a:ext cx="37033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400" b="0" i="0">
                <a:solidFill>
                  <a:srgbClr val="1A1A1A"/>
                </a:solidFill>
                <a:latin typeface="Calibri"/>
              </a:rPr>
              <a:t>разрыв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12480" y="3566160"/>
            <a:ext cx="3154679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Утилизация парка между городами Юрента: Москва 1 073 vs Новосибирск 277 поездок/самокат/год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846320"/>
            <a:ext cx="11247120" cy="14173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4983480"/>
            <a:ext cx="3657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Объект исследования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230368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МТС Юрент — оператор кикшеринга на портфеле региональных рынков РФ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5623560"/>
            <a:ext cx="3657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Управленческая проблема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7240" y="5870448"/>
            <a:ext cx="10515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C01A1A"/>
                </a:solidFill>
                <a:latin typeface="Calibri"/>
              </a:rPr>
              <a:t>Формализованной процедуры выбора режима присутствия по регионам нет — решения принимаются как набор разовых кейсов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2/16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Цель — построить систему стратегического выбора и применить её к МТС Юрент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 i="0">
                <a:solidFill>
                  <a:srgbClr val="595959"/>
                </a:solidFill>
                <a:latin typeface="Calibri"/>
              </a:rPr>
              <a:t>Разработать аналитическую систему стратегического выбора оператора кикшеринга в портфеле региональных рынков и применить её к МТС Юрент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46607" y="2286000"/>
            <a:ext cx="1691640" cy="1554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2327" y="2514600"/>
            <a:ext cx="16002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Диагностика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рынка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2327" y="3246120"/>
            <a:ext cx="1600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PESTEL,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конкурентный анализ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2438247" y="3063240"/>
            <a:ext cx="109728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547975" y="2286000"/>
            <a:ext cx="1691640" cy="1554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593695" y="2514600"/>
            <a:ext cx="16002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5 критериев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оценки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93695" y="3246120"/>
            <a:ext cx="1600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из теоретико-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методологической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основы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4239615" y="3063240"/>
            <a:ext cx="109728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4349343" y="2286000"/>
            <a:ext cx="1691640" cy="1554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5063" y="2514600"/>
            <a:ext cx="16002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3 сценария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S1–S3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95063" y="3246120"/>
            <a:ext cx="1600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сопоставление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альтернатив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40983" y="3063240"/>
            <a:ext cx="109728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50711" y="2286000"/>
            <a:ext cx="1691640" cy="1554480"/>
          </a:xfrm>
          <a:prstGeom prst="roundRect">
            <a:avLst>
              <a:gd name="adj" fmla="val 5000"/>
            </a:avLst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96431" y="2514600"/>
            <a:ext cx="16002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Выбор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96431" y="3246120"/>
            <a:ext cx="1600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диверсификация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режимов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7842351" y="3063240"/>
            <a:ext cx="109728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7952079" y="2286000"/>
            <a:ext cx="1691640" cy="1554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97799" y="2514600"/>
            <a:ext cx="16002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Режимы R1–R3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+ УПС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7799" y="3246120"/>
            <a:ext cx="1600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проектное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наполнение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643719" y="3063240"/>
            <a:ext cx="109728" cy="0"/>
          </a:xfrm>
          <a:prstGeom prst="line">
            <a:avLst/>
          </a:prstGeom>
          <a:ln w="1524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753447" y="2286000"/>
            <a:ext cx="1691640" cy="1554480"/>
          </a:xfrm>
          <a:prstGeom prst="roundRect">
            <a:avLst>
              <a:gd name="adj" fmla="val 5000"/>
            </a:avLst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799167" y="2514600"/>
            <a:ext cx="160020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Финансовый</a:t>
            </a:r>
          </a:p>
          <a:p>
            <a:pPr algn="ctr">
              <a:lnSpc>
                <a:spcPct val="11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эффект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99167" y="3246120"/>
            <a:ext cx="1600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демо-портфель</a:t>
            </a:r>
          </a:p>
          <a:p>
            <a:pPr algn="ctr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5 городов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43484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7 задач работы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4800600"/>
            <a:ext cx="1124712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1. Систематизация литературы и обоснование критериев · 2. Диагностика российского рынка кикшеринга 2022–2025 · 3. Иерархия факторов регионального различения</a:t>
            </a:r>
          </a:p>
          <a:p>
            <a:pPr algn="l">
              <a:lnSpc>
                <a:spcPct val="14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4. Каркас режимов R1–R3 · 5. Сопоставление сценариев S1–S3 · 6. Проектный инструмент УПС · 7. Финансовая модель сценария S3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Выход работы — система S3, каркас режимов R1–R3, инструмент УПС и финансовая модель на демонстрационном портфеле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3/16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Методология: 5 теоретических линий и закрытые данные по 86 субъектам РФ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657600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3657600" cy="50292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618488"/>
            <a:ext cx="36576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Методы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194560"/>
            <a:ext cx="329184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PESTEL-анализ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Конкурентный анализ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Иерархия факторов (3 уровня)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Критериальное сопоставление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Финансовое моделирование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Сценарный анализ</a:t>
            </a:r>
          </a:p>
        </p:txBody>
      </p:sp>
      <p:sp>
        <p:nvSpPr>
          <p:cNvPr id="8" name="Rectangle 7"/>
          <p:cNvSpPr/>
          <p:nvPr/>
        </p:nvSpPr>
        <p:spPr>
          <a:xfrm>
            <a:off x="4251960" y="1554480"/>
            <a:ext cx="3657600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251960" y="1554480"/>
            <a:ext cx="3657600" cy="50292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1618488"/>
            <a:ext cx="36576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Источники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2194560"/>
            <a:ext cx="329184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Отчётность ПАО «МТС», ПАО «ВУШ Холдинг»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Отраслевая аналитика (TrueSharing, NACTO)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Деловая пресса (Коммерсантъ, Эксперт)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37 академических источников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Эксперт А. — M&amp;A МТС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Эксперт Б. — научный руководитель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46720" y="1554480"/>
            <a:ext cx="3657600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046720" y="1554480"/>
            <a:ext cx="3657600" cy="50292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046720" y="1618488"/>
            <a:ext cx="365760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Эмпирика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75320" y="2194560"/>
            <a:ext cx="329184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86 субъектов РФ — внутренние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поквартальные данные МТС Юрент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Период: 2024 + 9 мес. 2025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Демонстрационный портфель: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5 городов = 94 % выручки оператора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 Финмодель сценария S3: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5 эффектов × 3 сценария чувствительности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733288"/>
            <a:ext cx="112471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Использование ИИ: ChatGPT и Claude — обработка источников, форматирование, редактура. Стратегические решения, выбор сценария, интерпретация данных и параметры финмодели — авторские. Декларация — Приложение А ВКР.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База достаточна для предварительного выбора стратегии и дизайна пилота; апробация — этап пилота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4/16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Внешняя среда: рынок сжался впервые за 5 лет, сезон сократился, капитал подорожал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48640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87452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Рынок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94560"/>
            <a:ext cx="246888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D0028"/>
                </a:solidFill>
                <a:latin typeface="Calibri"/>
              </a:rPr>
              <a:t>−6 %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0" y="1920240"/>
            <a:ext cx="228600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поездок в 2025 (Платформа ОФД)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Whoosh: парк +17 %, поездки −7 %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выручка −13 %, маржа 42 → 28 %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691640"/>
            <a:ext cx="548640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87452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Капитал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194560"/>
            <a:ext cx="246888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D0028"/>
                </a:solidFill>
                <a:latin typeface="Calibri"/>
              </a:rPr>
              <a:t>21 %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920240"/>
            <a:ext cx="228600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ключевая ставка ЦБ в 2025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срок службы парка 2–3 сезона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стоимость единицы 60–90 тыс. руб.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" y="4023360"/>
            <a:ext cx="548640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20624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Регуляторика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246888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D0028"/>
                </a:solidFill>
                <a:latin typeface="Calibri"/>
              </a:rPr>
              <a:t>3 режима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0" y="4251960"/>
            <a:ext cx="228600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Москва: верификация mos.ru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СПб: соглашения с операторами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Екб: угрозы расторжения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09360" y="4023360"/>
            <a:ext cx="548640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4206240"/>
            <a:ext cx="22860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Сезон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4526280"/>
            <a:ext cx="2468880" cy="8229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 i="0">
                <a:solidFill>
                  <a:srgbClr val="ED0028"/>
                </a:solidFill>
                <a:latin typeface="Calibri"/>
              </a:rPr>
              <a:t>март → июнь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4251960"/>
            <a:ext cx="228600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сезон 2025 начался на 3 мес позже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потери первого квартала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рост чувствительности к погоде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Прежняя логика расширения парка и географии перестаёт быть достаточным основанием конкурентной борьбы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5/16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Региональная неоднородность: пять рынков расходятся по структурным условиям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Демонстрационный портфель = 94 % выручки МТС Юрент в России. Параметры I и II уровней дают принципиально разные сочетания на реальной географии.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2011680"/>
            <a:ext cx="10927080" cy="54864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19" y="2057400"/>
            <a:ext cx="2103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Город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057400"/>
            <a:ext cx="1920239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Утилизация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поездок/самокат/год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057400"/>
            <a:ext cx="18288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YoY поездок</a:t>
            </a:r>
          </a:p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9 мес. 2025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2057400"/>
            <a:ext cx="20574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Регуляторика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72600" y="2057400"/>
            <a:ext cx="2103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Гипотеза режима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2560320"/>
            <a:ext cx="109270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2"/>
            <a:ext cx="201168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Москва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063240" y="2724912"/>
            <a:ext cx="1828799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1 073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66360" y="2724912"/>
            <a:ext cx="173736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C01A1A"/>
                </a:solidFill>
                <a:latin typeface="Calibri"/>
              </a:rPr>
              <a:t>−6,6 %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78040" y="2724912"/>
            <a:ext cx="196596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жёсткая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418320" y="2724912"/>
            <a:ext cx="201168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D0028"/>
                </a:solidFill>
                <a:latin typeface="Calibri"/>
              </a:rPr>
              <a:t>R3 (огранич.)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40080" y="3200400"/>
            <a:ext cx="1092708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3364992"/>
            <a:ext cx="201168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Санкт-Петербург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63240" y="3364992"/>
            <a:ext cx="1828799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609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66360" y="3364992"/>
            <a:ext cx="173736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E7A3C"/>
                </a:solidFill>
                <a:latin typeface="Calibri"/>
              </a:rPr>
              <a:t>+42,3 %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78040" y="3364992"/>
            <a:ext cx="196596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умеренно жёсткая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3364992"/>
            <a:ext cx="201168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D0028"/>
                </a:solidFill>
                <a:latin typeface="Calibri"/>
              </a:rPr>
              <a:t>R2 → R3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40080" y="3840480"/>
            <a:ext cx="109270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005072"/>
            <a:ext cx="201168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Краснодар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063240" y="4005072"/>
            <a:ext cx="1828799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564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66360" y="4005072"/>
            <a:ext cx="173736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C01A1A"/>
                </a:solidFill>
                <a:latin typeface="Calibri"/>
              </a:rPr>
              <a:t>−10,2 %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78040" y="4005072"/>
            <a:ext cx="196596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умеренная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18320" y="4005072"/>
            <a:ext cx="201168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D0028"/>
                </a:solidFill>
                <a:latin typeface="Calibri"/>
              </a:rPr>
              <a:t>R2 / R3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40080" y="4480560"/>
            <a:ext cx="10927080" cy="64008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4645152"/>
            <a:ext cx="201168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Екатеринбург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63240" y="4645152"/>
            <a:ext cx="1828799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319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166360" y="4645152"/>
            <a:ext cx="173736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E7A3C"/>
                </a:solidFill>
                <a:latin typeface="Calibri"/>
              </a:rPr>
              <a:t>+4,1 %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78040" y="4645152"/>
            <a:ext cx="196596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умеренная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4645152"/>
            <a:ext cx="201168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D0028"/>
                </a:solidFill>
                <a:latin typeface="Calibri"/>
              </a:rPr>
              <a:t>R2 + пилот УПС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40080" y="5120640"/>
            <a:ext cx="1092708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77240" y="5285231"/>
            <a:ext cx="201168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Новосибирск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063240" y="5285231"/>
            <a:ext cx="1828799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277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166360" y="5285231"/>
            <a:ext cx="173736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0000"/>
              </a:lnSpc>
            </a:pPr>
            <a:r>
              <a:rPr sz="1200" b="1" i="0">
                <a:solidFill>
                  <a:srgbClr val="1E7A3C"/>
                </a:solidFill>
                <a:latin typeface="Calibri"/>
              </a:rPr>
              <a:t>+128,9 %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78040" y="5285231"/>
            <a:ext cx="196596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умеренная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5285231"/>
            <a:ext cx="2011680" cy="45719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200" b="1" i="0">
                <a:solidFill>
                  <a:srgbClr val="ED0028"/>
                </a:solidFill>
                <a:latin typeface="Calibri"/>
              </a:rPr>
              <a:t>R2/R3 (эффект.)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5733288"/>
            <a:ext cx="109728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Источник: внутренние поквартальные данные МТС Юрент 2024 / 9 мес. 2025 (эксперт А.). Позиция МТС Юрент во всех 5 городах — преследователь.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Параметры расходятся в 4× по утилизации и в широком диапазоне по динамике — единый режим по портфелю невозможен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6/16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Конкурентная позиция: КФУ на зрелой стадии — доступность покрытия, у Юрента системный гэп</a:t>
            </a:r>
          </a:p>
        </p:txBody>
      </p:sp>
      <p:sp>
        <p:nvSpPr>
          <p:cNvPr id="4" name="Rectangle 3"/>
          <p:cNvSpPr/>
          <p:nvPr/>
        </p:nvSpPr>
        <p:spPr>
          <a:xfrm>
            <a:off x="1020927" y="1691640"/>
            <a:ext cx="3291840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03807" y="1828800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A1A1A"/>
                </a:solidFill>
                <a:latin typeface="Calibri"/>
              </a:rPr>
              <a:t>Whoosh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03807" y="2240280"/>
            <a:ext cx="2926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лидер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03807" y="2560320"/>
            <a:ext cx="2926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150 тыс. парк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03807" y="2898648"/>
            <a:ext cx="2926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масштаб парка +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вертикальная интеграция</a:t>
            </a:r>
          </a:p>
        </p:txBody>
      </p:sp>
      <p:sp>
        <p:nvSpPr>
          <p:cNvPr id="9" name="Rectangle 8"/>
          <p:cNvSpPr/>
          <p:nvPr/>
        </p:nvSpPr>
        <p:spPr>
          <a:xfrm>
            <a:off x="4449927" y="1691640"/>
            <a:ext cx="3291840" cy="164592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32807" y="1828800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FFFFFF"/>
                </a:solidFill>
                <a:latin typeface="Calibri"/>
              </a:rPr>
              <a:t>МТС Юрент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32807" y="2240280"/>
            <a:ext cx="2926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преследователь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32807" y="2560320"/>
            <a:ext cx="2926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120 тыс. парк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32807" y="2898648"/>
            <a:ext cx="2926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экосистема МТС +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платформа Eleven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878927" y="1691640"/>
            <a:ext cx="3291840" cy="1645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61807" y="1828800"/>
            <a:ext cx="29260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800" b="1" i="0">
                <a:solidFill>
                  <a:srgbClr val="1A1A1A"/>
                </a:solidFill>
                <a:latin typeface="Calibri"/>
              </a:rPr>
              <a:t>Яндекс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061807" y="2240280"/>
            <a:ext cx="2926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третий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61807" y="2560320"/>
            <a:ext cx="29260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30 тыс. парк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61807" y="2898648"/>
            <a:ext cx="29260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трафик</a:t>
            </a:r>
          </a:p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суперприложения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" y="3657600"/>
            <a:ext cx="5486400" cy="22860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749039"/>
            <a:ext cx="50292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Гэп с лидером — в эффективности, не в размере парка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" y="4069080"/>
            <a:ext cx="5029200" cy="11887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ED0028"/>
                </a:solidFill>
                <a:latin typeface="Calibri"/>
              </a:rPr>
              <a:t>49  vs  67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349240"/>
            <a:ext cx="50292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тыс. руб. — выручка на 1 самокат в год · МТС Юрент против Whoosh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55080" y="3657600"/>
            <a:ext cx="5257800" cy="2286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0" y="3749039"/>
            <a:ext cx="50292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Ключевые факторы успеха на зрелой стадии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4069080"/>
            <a:ext cx="49377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1.  Фактическая доступность самоката в нужной точке и в нужное время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4617720"/>
            <a:ext cx="49377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2.  Экономика на единицу парка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83680" y="4937760"/>
            <a:ext cx="49377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0" i="0">
                <a:solidFill>
                  <a:srgbClr val="595959"/>
                </a:solidFill>
                <a:latin typeface="Calibri"/>
              </a:rPr>
              <a:t>3.  Операционная исполнимость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83680" y="5303520"/>
            <a:ext cx="493776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→ доступность покрытия — критический КФУ; к нему привязан УПС (Слайд 13)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Гэп закрывается не наращиванием парка, а повышением отдачи от уже размещённого парка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7/16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Внутри сильная экосистема МТС, но централизованная управленческая логика для 187 локаций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691640"/>
            <a:ext cx="5486400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691640"/>
            <a:ext cx="5486400" cy="5029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764792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+  Сильные стороны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377440"/>
            <a:ext cx="512064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Экосистема МТС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697480"/>
            <a:ext cx="51206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80 млн абонентов · MTS ID · Premium · обезличенная геоаналитика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512064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Технологическая платформа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474720"/>
            <a:ext cx="51206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после приобретения Eleven (декабрь 2024)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931920"/>
            <a:ext cx="512064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Операционная база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251959"/>
            <a:ext cx="51206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120 тыс. СИМ в 187 локациях, отстроенные процедуры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09160"/>
            <a:ext cx="512064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Гибкость пилотирования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51206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компактная команда, короткий контур решений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55080" y="1691640"/>
            <a:ext cx="5486400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55080" y="1691640"/>
            <a:ext cx="5486400" cy="502920"/>
          </a:xfrm>
          <a:prstGeom prst="rect">
            <a:avLst/>
          </a:prstGeom>
          <a:solidFill>
            <a:srgbClr val="C0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55080" y="1764792"/>
            <a:ext cx="54864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−  Слабые стороны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377440"/>
            <a:ext cx="512064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Централизованная управленческая логика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697480"/>
            <a:ext cx="51206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мало чувствительна к различиям регионов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154680"/>
            <a:ext cx="512064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Нет процедуры назначения режимов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74720"/>
            <a:ext cx="51206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решения по городам — набор разовых кейсов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931920"/>
            <a:ext cx="512064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Ограниченная локальная экспертиза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4251959"/>
            <a:ext cx="51206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дефицит выделенных функций региональной координации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4709160"/>
            <a:ext cx="512064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1" i="0">
                <a:solidFill>
                  <a:srgbClr val="1A1A1A"/>
                </a:solidFill>
                <a:latin typeface="Calibri"/>
              </a:rPr>
              <a:t>Систематическое отставание по эффективности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5029200"/>
            <a:ext cx="51206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выручка/самокат и утилизация ниже Whoosh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715000"/>
            <a:ext cx="11247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1">
                <a:solidFill>
                  <a:srgbClr val="595959"/>
                </a:solidFill>
                <a:latin typeface="Calibri"/>
              </a:rPr>
              <a:t>Dynamic capabilities: операционный блок развит; способность перестраивать ресурсы под изменения рынка — в начальной зрелости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Проблема — не в отсутствии ресурсов, а в том, что текущая модель не превращает их в региональный результат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8/16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Стратегический диагноз: единая модель присутствия исчерпала источник новой ценности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518007" y="1691640"/>
            <a:ext cx="2651760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655167" y="1828800"/>
            <a:ext cx="411480" cy="41148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58087" y="1856232"/>
            <a:ext cx="1874519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Текущая ситуация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0887" y="2560320"/>
            <a:ext cx="2286000" cy="3291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Принципиально неоднородная портфельная среда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+ единообразная управленческая логика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169767" y="3840480"/>
            <a:ext cx="1828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3352647" y="1691640"/>
            <a:ext cx="2651760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89807" y="1828800"/>
            <a:ext cx="411480" cy="41148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992727" y="1856232"/>
            <a:ext cx="1874519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Причины разрыва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35527" y="2560320"/>
            <a:ext cx="2286000" cy="3291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Переход рынка к зрелой стадии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Расхождение региональных условий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• Слабая формализация регионального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   управления внутри компании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04407" y="3840480"/>
            <a:ext cx="1828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6187287" y="1691640"/>
            <a:ext cx="2651760" cy="42976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324447" y="1828800"/>
            <a:ext cx="411480" cy="41148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27367" y="1856232"/>
            <a:ext cx="1874519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Если не менять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70167" y="2560320"/>
            <a:ext cx="2286000" cy="3291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Ухудшение экономики покрытия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+ потеря источника новой ценности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1A1A1A"/>
                </a:solidFill>
                <a:latin typeface="Calibri"/>
              </a:rPr>
              <a:t>   от расширения парка и географии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839047" y="3840480"/>
            <a:ext cx="182880" cy="0"/>
          </a:xfrm>
          <a:prstGeom prst="line">
            <a:avLst/>
          </a:prstGeom>
          <a:ln w="19050">
            <a:solidFill>
              <a:srgbClr val="595959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ectangle 18"/>
          <p:cNvSpPr/>
          <p:nvPr/>
        </p:nvSpPr>
        <p:spPr>
          <a:xfrm>
            <a:off x="9021927" y="1691640"/>
            <a:ext cx="2651760" cy="429768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159087" y="18288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ED0028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62007" y="1856232"/>
            <a:ext cx="1874519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Требуемый ответ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04807" y="2560320"/>
            <a:ext cx="2286000" cy="3291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Иерархия факторов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различения рынков (3 уровня)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+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5 критериев оценки</a:t>
            </a:r>
          </a:p>
          <a:p>
            <a:pPr algn="l">
              <a:lnSpc>
                <a:spcPct val="135000"/>
              </a:lnSpc>
            </a:pPr>
            <a:r>
              <a:rPr sz="1150" b="0" i="0">
                <a:solidFill>
                  <a:srgbClr val="FFFFFF"/>
                </a:solidFill>
                <a:latin typeface="Calibri"/>
              </a:rPr>
              <a:t>стратегических сценариев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Нужна управляемая система «город → режим → KPI», а не разовые корректировки по каждому случаю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9/16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Три сценария по 5 критериям — S3 побеждает по четырём из пяти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554480"/>
            <a:ext cx="37033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1691639"/>
            <a:ext cx="1371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S1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737360"/>
            <a:ext cx="21945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Сохранение единой логики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33756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Все регионы — по одной модели расширения. Слабое место: не различает рынки, теряет источник новой ценности.</a:t>
            </a:r>
          </a:p>
        </p:txBody>
      </p:sp>
      <p:sp>
        <p:nvSpPr>
          <p:cNvPr id="8" name="Rectangle 7"/>
          <p:cNvSpPr/>
          <p:nvPr/>
        </p:nvSpPr>
        <p:spPr>
          <a:xfrm>
            <a:off x="4297680" y="1554480"/>
            <a:ext cx="3703320" cy="1783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1691639"/>
            <a:ext cx="1371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1A1A1A"/>
                </a:solidFill>
                <a:latin typeface="Calibri"/>
              </a:rPr>
              <a:t>S2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0" y="1737360"/>
            <a:ext cx="21945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Единый режим R3 + операционная адаптация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2331720"/>
            <a:ext cx="333756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595959"/>
                </a:solidFill>
                <a:latin typeface="Calibri"/>
              </a:rPr>
              <a:t>Всему портфелю — режим удержания. Слабое место: не использует резерв плотности в R2-городах.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1554480"/>
            <a:ext cx="3703320" cy="178308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1691639"/>
            <a:ext cx="137160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4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1737360"/>
            <a:ext cx="219456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1" i="0">
                <a:solidFill>
                  <a:srgbClr val="FFFFFF"/>
                </a:solidFill>
                <a:latin typeface="Calibri"/>
              </a:rPr>
              <a:t>Диверсификация режимов по портфелю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2331720"/>
            <a:ext cx="333756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FFFFFF"/>
                </a:solidFill>
                <a:latin typeface="Calibri"/>
              </a:rPr>
              <a:t>Каждой группе рынков — свой режим. Сложнее в координации, но даёт максимальный эффект.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3520440"/>
            <a:ext cx="11274552" cy="384048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593592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Критерий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623560" y="359359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35240" y="359359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46919" y="3593592"/>
            <a:ext cx="194767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S3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3904488"/>
            <a:ext cx="11274552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77640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1. Ресурсно-теоретическая защитимость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623560" y="3977640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низкая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3977640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средняя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46919" y="3977640"/>
            <a:ext cx="194767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7A3C"/>
                </a:solidFill>
                <a:latin typeface="Calibri"/>
              </a:rPr>
              <a:t>высокая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288536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94360" y="4361688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2. Согласованность с динамическими способностями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623560" y="4361688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низкая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35240" y="4361688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средняя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46919" y="4361688"/>
            <a:ext cx="194767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7A3C"/>
                </a:solidFill>
                <a:latin typeface="Calibri"/>
              </a:rPr>
              <a:t>высокая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4672584"/>
            <a:ext cx="11274552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94360" y="4745736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3. Операционная исполнимость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623560" y="4745736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высокая (инерция)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635240" y="4745736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высокая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6919" y="4745736"/>
            <a:ext cx="194767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ED0028"/>
                </a:solidFill>
                <a:latin typeface="Calibri"/>
              </a:rPr>
              <a:t>средняя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5056632"/>
            <a:ext cx="11274552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94360" y="5129784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4. Финансово-операционный эффект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623560" y="5129784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низкий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635240" y="5129784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средний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646919" y="5129784"/>
            <a:ext cx="194767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7A3C"/>
                </a:solidFill>
                <a:latin typeface="Calibri"/>
              </a:rPr>
              <a:t>высокий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57200" y="5440680"/>
            <a:ext cx="11274552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4360" y="5513832"/>
            <a:ext cx="47548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5. Профиль риска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23560" y="551383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концентрирован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635240" y="551383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концентр. в R3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646919" y="5513832"/>
            <a:ext cx="194767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1E7A3C"/>
                </a:solidFill>
                <a:latin typeface="Calibri"/>
              </a:rPr>
              <a:t>распределён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S3 уступает только по критерию операционной исполнимости в горизонте перестройки — адресовано компенсаторами (Слайд 15)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10/16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Выбран S3 — диверсификация режимов по сценарно-однородным группам рынков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2588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0" i="0">
                <a:solidFill>
                  <a:srgbClr val="595959"/>
                </a:solidFill>
                <a:latin typeface="Calibri"/>
              </a:rPr>
              <a:t>Оператор переходит от единой логики ко всем рынкам к назначению каждому рынку режима по фактическим параметрам и регулярному пересмотру каждый сезон</a:t>
            </a:r>
          </a:p>
        </p:txBody>
      </p:sp>
      <p:sp>
        <p:nvSpPr>
          <p:cNvPr id="5" name="Rectangle 4"/>
          <p:cNvSpPr/>
          <p:nvPr/>
        </p:nvSpPr>
        <p:spPr>
          <a:xfrm>
            <a:off x="312267" y="2011680"/>
            <a:ext cx="224028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49427" y="2194560"/>
            <a:ext cx="1965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Москва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9427" y="2578608"/>
            <a:ext cx="1965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R3 (огранич.)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9427" y="2971800"/>
            <a:ext cx="19659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Жёсткая регуляторика, удержание маржи без расширения парка</a:t>
            </a:r>
          </a:p>
        </p:txBody>
      </p:sp>
      <p:sp>
        <p:nvSpPr>
          <p:cNvPr id="9" name="Rectangle 8"/>
          <p:cNvSpPr/>
          <p:nvPr/>
        </p:nvSpPr>
        <p:spPr>
          <a:xfrm>
            <a:off x="2643987" y="2011680"/>
            <a:ext cx="224028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81147" y="2194560"/>
            <a:ext cx="1965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Санкт-Петербург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1147" y="2578608"/>
            <a:ext cx="1965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R2 → R3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1147" y="2971800"/>
            <a:ext cx="19659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Запас плотности; переход к R3 при ужесточении регуляторики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975707" y="2011680"/>
            <a:ext cx="224028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12867" y="2194560"/>
            <a:ext cx="1965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Краснодар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12867" y="2578608"/>
            <a:ext cx="1965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R2 / R3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12867" y="2971800"/>
            <a:ext cx="19659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Длинный сезон, переменная позиция; гибкое назначение по сезону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07427" y="2011680"/>
            <a:ext cx="2240280" cy="155448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44587" y="2194560"/>
            <a:ext cx="1965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Екатеринбург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44587" y="2578608"/>
            <a:ext cx="1965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R2 + пилот УПС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44587" y="2971800"/>
            <a:ext cx="19659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FFFFFF"/>
                </a:solidFill>
                <a:latin typeface="Calibri"/>
              </a:rPr>
              <a:t>Резерв плотности + позиция преследователя — идеальный полигон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639147" y="2011680"/>
            <a:ext cx="2240280" cy="15544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776307" y="2194560"/>
            <a:ext cx="1965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Новосибирск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776307" y="2578608"/>
            <a:ext cx="196596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R2/R3 эффект.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76307" y="2971800"/>
            <a:ext cx="196596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Короткий сезон, протяжённая геометрия — приоритет эффективности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3931920"/>
            <a:ext cx="11274552" cy="20574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069080"/>
            <a:ext cx="109728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Что отличает S3 от обычной кластеризации городов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43484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D0028"/>
                </a:solidFill>
                <a:latin typeface="Calibri"/>
              </a:rPr>
              <a:t>Воспроизводимая процедура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" y="4800600"/>
            <a:ext cx="3474720" cy="1143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Назначение режима — по фактическим KPI; пересмотр каждый сезон, а не статическая фиксация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80559" y="443484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D0028"/>
                </a:solidFill>
                <a:latin typeface="Calibri"/>
              </a:rPr>
              <a:t>Однородные поля описания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80559" y="4800600"/>
            <a:ext cx="3474720" cy="1143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Каждый режим описан через цель, условия, рычаги, KPI, ограничения — это делает сопоставимыми решения по разным городам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83879" y="4434840"/>
            <a:ext cx="34747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50" b="1" i="0">
                <a:solidFill>
                  <a:srgbClr val="ED0028"/>
                </a:solidFill>
                <a:latin typeface="Calibri"/>
              </a:rPr>
              <a:t>Защита от копирования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83879" y="4800600"/>
            <a:ext cx="3474720" cy="11430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Конкуренту недостаточно воспроизвести матрицу — нужна функция портфельного управления и локальной адаптации (Reed, DeFillippi, 1990)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S3 — не статическая кластеризация, а воспроизводимая процедура с пересмотром каждый сезон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11/16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Каркас режимов R1–R3 покрывает жизненный цикл присутствия оператора на рынке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91640"/>
            <a:ext cx="3703320" cy="4526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691640"/>
            <a:ext cx="3703320" cy="123444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20240"/>
            <a:ext cx="10972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856232"/>
            <a:ext cx="219456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Плацдарм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219456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Закрепиться на новом или слабо освоенном рынке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Условия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3337560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доля &lt; 15 %, новый рынок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840480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Рычаги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114800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минимально достаточный парк, отстройка процессов, базовый бренд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617720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KPI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4892040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покрытие ключевых зон, базовая утилизация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5394959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Применение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5669279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малые города, ранний вход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297680" y="1691640"/>
            <a:ext cx="3703320" cy="4526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297680" y="1691640"/>
            <a:ext cx="3703320" cy="123444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0560" y="1920240"/>
            <a:ext cx="10972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0" y="1856232"/>
            <a:ext cx="219456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Атака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669280" y="2286000"/>
            <a:ext cx="219456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Рост доли поездок в позиции преследователя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3063240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Условия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3337560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доля 15–35 %, есть запас плотности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26280" y="3840480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Рычаги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6280" y="4114800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расширение покрытия, ценовая политика, УПС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26280" y="4617720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KPI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4892040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рост поездок, утилизация парка, выручка/самокат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26280" y="5394959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Применение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26280" y="5669279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СПб, Екатеринбург, Краснодар, Новосибирск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138160" y="1691640"/>
            <a:ext cx="3703320" cy="45262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138160" y="1691640"/>
            <a:ext cx="3703320" cy="123444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321040" y="1920240"/>
            <a:ext cx="109728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3000" b="1" i="0">
                <a:solidFill>
                  <a:srgbClr val="FFFFFF"/>
                </a:solidFill>
                <a:latin typeface="Calibri"/>
              </a:rPr>
              <a:t>R3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1856232"/>
            <a:ext cx="219456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 i="0">
                <a:solidFill>
                  <a:srgbClr val="FFFFFF"/>
                </a:solidFill>
                <a:latin typeface="Calibri"/>
              </a:rPr>
              <a:t>Удержание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09760" y="2286000"/>
            <a:ext cx="219456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Защита позиции при приоритете эффективности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366760" y="3063240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Условия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66760" y="3337560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доля &gt; 35 % / жёсткая регуляторика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66760" y="3840480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Рычаги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66760" y="4114800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дисциплина расстановки, OpEx-оптимизация, УПС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66760" y="4617720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KPI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66760" y="4892040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EBITDA-маржа, доля физической ребалансировки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366760" y="5394959"/>
            <a:ext cx="3246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Применение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66760" y="5669279"/>
            <a:ext cx="3246120" cy="5029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100" b="0" i="0">
                <a:solidFill>
                  <a:srgbClr val="1A1A1A"/>
                </a:solidFill>
                <a:latin typeface="Calibri"/>
              </a:rPr>
              <a:t>Москва, зрелые рынки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Однородный набор полей описания делает диагностики разных городов сопоставимыми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12/16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Проектный инструмент УПС: стимул в 4,5× дешевле физической ребалансировки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25880"/>
            <a:ext cx="2715768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2715768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Сигнал дефицита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82112" y="1389888"/>
            <a:ext cx="11887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→</a:t>
            </a:r>
          </a:p>
        </p:txBody>
      </p:sp>
      <p:sp>
        <p:nvSpPr>
          <p:cNvPr id="7" name="Rectangle 6"/>
          <p:cNvSpPr/>
          <p:nvPr/>
        </p:nvSpPr>
        <p:spPr>
          <a:xfrm>
            <a:off x="3310128" y="1325880"/>
            <a:ext cx="2715768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10128" y="1417320"/>
            <a:ext cx="2715768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Отбор точки и окна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389888"/>
            <a:ext cx="11887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63056" y="1325880"/>
            <a:ext cx="2715768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63056" y="1417320"/>
            <a:ext cx="2715768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Выбор стимула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887968" y="1389888"/>
            <a:ext cx="11887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→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15984" y="1325880"/>
            <a:ext cx="2715768" cy="3657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15984" y="1417320"/>
            <a:ext cx="2715768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Доступность восстановлена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1828800"/>
            <a:ext cx="5943600" cy="4160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1965960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Экономика операции по перемещению парка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2377440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Физическая ребалансировка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2697480"/>
            <a:ext cx="56692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1A1A1A"/>
                </a:solidFill>
                <a:latin typeface="Calibri"/>
              </a:rPr>
              <a:t>120 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5669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за операцию, данные эксперта МТС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3931920"/>
            <a:ext cx="5669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↓ замещение стимулом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251960"/>
            <a:ext cx="566928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Средневзвешенная стоимость стимула УПС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572000"/>
            <a:ext cx="56692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5800" b="1" i="0">
                <a:solidFill>
                  <a:srgbClr val="ED0028"/>
                </a:solidFill>
                <a:latin typeface="Calibri"/>
              </a:rPr>
              <a:t>26,5 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486400"/>
            <a:ext cx="5669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ED0028"/>
                </a:solidFill>
                <a:latin typeface="Calibri"/>
              </a:rPr>
              <a:t>за операцию · в 4,5× дешевле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1828800"/>
            <a:ext cx="5029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Три механизма УПС (шаг «Выбор стимула»)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766560" y="2240280"/>
            <a:ext cx="502920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903720" y="2468880"/>
            <a:ext cx="685800" cy="68580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М1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2377440"/>
            <a:ext cx="39319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Стимул на стороне точки высадки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2400" y="2743200"/>
            <a:ext cx="393192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Пользователю предлагается выгода за завершение поездки в зоне дефицита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766560" y="3474720"/>
            <a:ext cx="502920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903720" y="3703320"/>
            <a:ext cx="685800" cy="68580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М2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72400" y="3611880"/>
            <a:ext cx="39319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Стимул на стороне точки посадки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0" y="3977640"/>
            <a:ext cx="393192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Скидка за самокат из зоны переизбытка — снижает плотность в перенасыщенных зонах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766560" y="4709160"/>
            <a:ext cx="5029200" cy="11430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903720" y="4937760"/>
            <a:ext cx="685800" cy="68580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М3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72400" y="4846320"/>
            <a:ext cx="39319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Микрозадание внешнему исполнителю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72400" y="5212080"/>
            <a:ext cx="3931920" cy="5943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Оплачиваемое перемещение в случаях, где пользовательских стимулов недостаточно</a:t>
            </a:r>
          </a:p>
        </p:txBody>
      </p:sp>
      <p:sp>
        <p:nvSpPr>
          <p:cNvPr id="37" name="Rectangle 36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УПС применяется в режимах R2 и R3, снижает физическую ребалансировку, не отменяя её полностью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13/16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Финансовая модель: +25 млн ₽ EBITDA в год 1, NPV +134 млн при WACC 20 %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91640"/>
            <a:ext cx="112471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Год 1, эффект сценария S3 vs S1 (млн руб. EBITDA)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3607308"/>
            <a:ext cx="7498079" cy="0"/>
          </a:xfrm>
          <a:prstGeom prst="line">
            <a:avLst/>
          </a:prstGeom>
          <a:ln w="9525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457200" y="3607308"/>
            <a:ext cx="758952" cy="504854"/>
          </a:xfrm>
          <a:prstGeom prst="rect">
            <a:avLst/>
          </a:prstGeom>
          <a:solidFill>
            <a:srgbClr val="D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57882"/>
            <a:ext cx="9418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1A1A"/>
                </a:solidFill>
                <a:latin typeface="Calibri"/>
              </a:rPr>
              <a:t>-22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4892040"/>
            <a:ext cx="1033271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Управление</a:t>
            </a:r>
          </a:p>
        </p:txBody>
      </p:sp>
      <p:sp>
        <p:nvSpPr>
          <p:cNvPr id="9" name="Rectangle 8"/>
          <p:cNvSpPr/>
          <p:nvPr/>
        </p:nvSpPr>
        <p:spPr>
          <a:xfrm>
            <a:off x="1280160" y="3607308"/>
            <a:ext cx="758952" cy="160635"/>
          </a:xfrm>
          <a:prstGeom prst="rect">
            <a:avLst/>
          </a:prstGeom>
          <a:solidFill>
            <a:srgbClr val="D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88719" y="3813663"/>
            <a:ext cx="9418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1A1A"/>
                </a:solidFill>
                <a:latin typeface="Calibri"/>
              </a:rPr>
              <a:t>-7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3000" y="4892040"/>
            <a:ext cx="1033271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Маркетинг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103120" y="3607308"/>
            <a:ext cx="758952" cy="367166"/>
          </a:xfrm>
          <a:prstGeom prst="rect">
            <a:avLst/>
          </a:prstGeom>
          <a:solidFill>
            <a:srgbClr val="D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11679" y="4020194"/>
            <a:ext cx="9418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1A1A"/>
                </a:solidFill>
                <a:latin typeface="Calibri"/>
              </a:rPr>
              <a:t>-16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65960" y="4892040"/>
            <a:ext cx="1033271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УПС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926079" y="3607308"/>
            <a:ext cx="758952" cy="68843"/>
          </a:xfrm>
          <a:prstGeom prst="rect">
            <a:avLst/>
          </a:prstGeom>
          <a:solidFill>
            <a:srgbClr val="D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34639" y="3721871"/>
            <a:ext cx="9418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C01A1A"/>
                </a:solidFill>
                <a:latin typeface="Calibri"/>
              </a:rPr>
              <a:t>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892040"/>
            <a:ext cx="1033271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Накладные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749039" y="3331932"/>
            <a:ext cx="758952" cy="275375"/>
          </a:xfrm>
          <a:prstGeom prst="rect">
            <a:avLst/>
          </a:prstGeom>
          <a:solidFill>
            <a:srgbClr val="479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657599" y="3039324"/>
            <a:ext cx="9418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E7A3C"/>
                </a:solidFill>
                <a:latin typeface="Calibri"/>
              </a:rPr>
              <a:t>+12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11879" y="4892040"/>
            <a:ext cx="1033271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R2-выручка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0" y="3469620"/>
            <a:ext cx="758952" cy="137687"/>
          </a:xfrm>
          <a:prstGeom prst="rect">
            <a:avLst/>
          </a:prstGeom>
          <a:solidFill>
            <a:srgbClr val="479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80560" y="3177012"/>
            <a:ext cx="9418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E7A3C"/>
                </a:solidFill>
                <a:latin typeface="Calibri"/>
              </a:rPr>
              <a:t>+6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34840" y="4892040"/>
            <a:ext cx="1033271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УПС-пилот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394959" y="2414016"/>
            <a:ext cx="758952" cy="1193292"/>
          </a:xfrm>
          <a:prstGeom prst="rect">
            <a:avLst/>
          </a:prstGeom>
          <a:solidFill>
            <a:srgbClr val="479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303520" y="2121408"/>
            <a:ext cx="9418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E7A3C"/>
                </a:solidFill>
                <a:latin typeface="Calibri"/>
              </a:rPr>
              <a:t>+52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799" y="4892040"/>
            <a:ext cx="1033271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OpEx Москва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217919" y="3538464"/>
            <a:ext cx="758952" cy="68843"/>
          </a:xfrm>
          <a:prstGeom prst="rect">
            <a:avLst/>
          </a:prstGeom>
          <a:solidFill>
            <a:srgbClr val="479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126479" y="3245856"/>
            <a:ext cx="9418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1E7A3C"/>
                </a:solidFill>
                <a:latin typeface="Calibri"/>
              </a:rPr>
              <a:t>+3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80759" y="4892040"/>
            <a:ext cx="1033271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0" i="0">
                <a:solidFill>
                  <a:srgbClr val="1A1A1A"/>
                </a:solidFill>
                <a:latin typeface="Calibri"/>
              </a:rPr>
              <a:t>Малые города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040879" y="3033609"/>
            <a:ext cx="758952" cy="57369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949440" y="2741001"/>
            <a:ext cx="94183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 i="0">
                <a:solidFill>
                  <a:srgbClr val="ED0028"/>
                </a:solidFill>
                <a:latin typeface="Calibri"/>
              </a:rPr>
              <a:t>+25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03719" y="4892040"/>
            <a:ext cx="1033271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15000"/>
              </a:lnSpc>
            </a:pPr>
            <a:r>
              <a:rPr sz="850" b="1" i="0">
                <a:solidFill>
                  <a:srgbClr val="ED0028"/>
                </a:solidFill>
                <a:latin typeface="Calibri"/>
              </a:rPr>
              <a:t>ЧИСТЫЙ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778240" y="1874520"/>
            <a:ext cx="3200400" cy="37033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006840" y="1984248"/>
            <a:ext cx="27432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595959"/>
                </a:solidFill>
                <a:latin typeface="Calibri"/>
              </a:rPr>
              <a:t>Ключевые показатели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052560" y="2377440"/>
            <a:ext cx="28346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Год 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52560" y="2587752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D0028"/>
                </a:solidFill>
                <a:latin typeface="Calibri"/>
              </a:rPr>
              <a:t>+80…+100 млн 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052560" y="2971800"/>
            <a:ext cx="283464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при тиражировании УПС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3136392"/>
            <a:ext cx="28346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NPV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52560" y="3346704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D0028"/>
                </a:solidFill>
                <a:latin typeface="Calibri"/>
              </a:rPr>
              <a:t>+134 млн ₽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052560" y="3730752"/>
            <a:ext cx="283464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WACC 20 %, 3 года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052560" y="3895344"/>
            <a:ext cx="28346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Payback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52560" y="4105656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D0028"/>
                </a:solidFill>
                <a:latin typeface="Calibri"/>
              </a:rPr>
              <a:t>≈ 8 мес.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052560" y="4489704"/>
            <a:ext cx="283464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один пилотный сезон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052560" y="4654296"/>
            <a:ext cx="283464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ROI год 1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52560" y="4864608"/>
            <a:ext cx="28346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600" b="1" i="0">
                <a:solidFill>
                  <a:srgbClr val="ED0028"/>
                </a:solidFill>
                <a:latin typeface="Calibri"/>
              </a:rPr>
              <a:t>52 %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052560" y="5248656"/>
            <a:ext cx="2834640" cy="201168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850" b="0" i="0">
                <a:solidFill>
                  <a:srgbClr val="595959"/>
                </a:solidFill>
                <a:latin typeface="Calibri"/>
              </a:rPr>
              <a:t>чистый эффект / затраты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57200" y="5760720"/>
            <a:ext cx="11247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Чувствительность год 1:  −14 / +25 / +64 млн ₽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S3 окупается за счёт перенастройки уже существующего портфеля — capex проекта всего 8 млн ₽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14/16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Поэтапное внедрение: пилот в Екатеринбурге → масштабирование на R2-кластер в год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Дорожная карта пилота УПС, 12 месяцев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78027" y="2743200"/>
            <a:ext cx="10835640" cy="0"/>
          </a:xfrm>
          <a:prstGeom prst="line">
            <a:avLst/>
          </a:prstGeom>
          <a:ln w="25400">
            <a:solidFill>
              <a:srgbClr val="ED002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975207" y="2286000"/>
            <a:ext cx="914400" cy="91440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М1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12267" y="3246120"/>
            <a:ext cx="22402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Диагностика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2267" y="3566160"/>
            <a:ext cx="22402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базовые KPI,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чувствительные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микролокации</a:t>
            </a:r>
          </a:p>
        </p:txBody>
      </p:sp>
      <p:sp>
        <p:nvSpPr>
          <p:cNvPr id="9" name="Oval 8"/>
          <p:cNvSpPr/>
          <p:nvPr/>
        </p:nvSpPr>
        <p:spPr>
          <a:xfrm>
            <a:off x="3306927" y="2286000"/>
            <a:ext cx="914400" cy="91440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М2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43987" y="3246120"/>
            <a:ext cx="22402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Запуск М1 + М2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43987" y="3566160"/>
            <a:ext cx="22402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стимулы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пользователям</a:t>
            </a:r>
          </a:p>
        </p:txBody>
      </p:sp>
      <p:sp>
        <p:nvSpPr>
          <p:cNvPr id="12" name="Oval 11"/>
          <p:cNvSpPr/>
          <p:nvPr/>
        </p:nvSpPr>
        <p:spPr>
          <a:xfrm>
            <a:off x="5638647" y="2286000"/>
            <a:ext cx="914400" cy="91440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М3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75707" y="3246120"/>
            <a:ext cx="22402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Запуск М3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75707" y="3566160"/>
            <a:ext cx="22402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микрозадания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внешним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исполнителям</a:t>
            </a:r>
          </a:p>
        </p:txBody>
      </p:sp>
      <p:sp>
        <p:nvSpPr>
          <p:cNvPr id="15" name="Oval 14"/>
          <p:cNvSpPr/>
          <p:nvPr/>
        </p:nvSpPr>
        <p:spPr>
          <a:xfrm>
            <a:off x="7970367" y="2286000"/>
            <a:ext cx="914400" cy="91440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М4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07427" y="3246120"/>
            <a:ext cx="22402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Калибровка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07427" y="3566160"/>
            <a:ext cx="22402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параметры стимулов,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расширение зоны</a:t>
            </a:r>
          </a:p>
        </p:txBody>
      </p:sp>
      <p:sp>
        <p:nvSpPr>
          <p:cNvPr id="18" name="Oval 17"/>
          <p:cNvSpPr/>
          <p:nvPr/>
        </p:nvSpPr>
        <p:spPr>
          <a:xfrm>
            <a:off x="10302087" y="2286000"/>
            <a:ext cx="914400" cy="914400"/>
          </a:xfrm>
          <a:prstGeom prst="ellipse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 lIns="0" rIns="0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М5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39147" y="3246120"/>
            <a:ext cx="224028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200" b="1" i="0">
                <a:solidFill>
                  <a:srgbClr val="1A1A1A"/>
                </a:solidFill>
                <a:latin typeface="Calibri"/>
              </a:rPr>
              <a:t>Итоги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39147" y="3566160"/>
            <a:ext cx="2240280" cy="9144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решение</a:t>
            </a:r>
          </a:p>
          <a:p>
            <a:pPr algn="ctr">
              <a:lnSpc>
                <a:spcPct val="125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о тиражировании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160520"/>
            <a:ext cx="1124712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Риски и управленческие компенсаторы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617720"/>
            <a:ext cx="54864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663440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Рассинхронизация режимов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154680" y="4709159"/>
            <a:ext cx="3200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→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40" y="4663440"/>
            <a:ext cx="23317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функция портфельного управления + цикл сверки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4617720"/>
            <a:ext cx="54864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663440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Потеря единого пользовательского опыта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778240" y="4709159"/>
            <a:ext cx="3200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→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4663440"/>
            <a:ext cx="23317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единообразие на уровне продукта при дифференциации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12080"/>
            <a:ext cx="54864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5257800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Кадровая нагрузка координации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54680" y="5303520"/>
            <a:ext cx="3200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→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20440" y="5257800"/>
            <a:ext cx="23317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поэтапное внедрение: 5 городов → расширение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5212080"/>
            <a:ext cx="54864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63640" y="5257800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Регуляторный шок в нескольких рынках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5303520"/>
            <a:ext cx="3200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→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0" y="5257800"/>
            <a:ext cx="23317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встроенные правила перехода R2 → R3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57200" y="5806440"/>
            <a:ext cx="54864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0080" y="5852159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Ошибка диагностики рынка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154680" y="5897879"/>
            <a:ext cx="3200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→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520440" y="5852159"/>
            <a:ext cx="23317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регулярный пересмотр режима по KPI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80760" y="5806440"/>
            <a:ext cx="5486400" cy="502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263640" y="5852159"/>
            <a:ext cx="246888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Универсализация УПС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778240" y="5897879"/>
            <a:ext cx="32004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→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00" y="5852159"/>
            <a:ext cx="23317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1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фиксация условий применимости (R2, R3)</a:t>
            </a:r>
          </a:p>
        </p:txBody>
      </p:sp>
      <p:sp>
        <p:nvSpPr>
          <p:cNvPr id="46" name="Rectangle 45"/>
          <p:cNvSpPr/>
          <p:nvPr/>
        </p:nvSpPr>
        <p:spPr>
          <a:xfrm>
            <a:off x="457200" y="6080760"/>
            <a:ext cx="11274552" cy="36576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57200" y="6126480"/>
            <a:ext cx="11274552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S3 не требует одномоментной перестройки — запускается через пилот за 5 месяцев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44652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900">
                <a:solidFill>
                  <a:srgbClr val="595959"/>
                </a:solidFill>
                <a:latin typeface="Calibri"/>
              </a:rPr>
              <a:t>МТС Юрент · Конкурентная стратегия на региональных рынках кикшеринга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446520"/>
            <a:ext cx="8229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595959"/>
                </a:solidFill>
                <a:latin typeface="Calibri"/>
              </a:rPr>
              <a:t>15/16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114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Управленческий вывод: неоднородность регионов превращается из проблемы в инструмент выбора действий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783080"/>
            <a:ext cx="2697480" cy="237744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965960"/>
            <a:ext cx="242316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651760"/>
            <a:ext cx="23317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Диагностирована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063239"/>
            <a:ext cx="233172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управленческая проблема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регионального портфеля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из 187 локаций</a:t>
            </a:r>
          </a:p>
        </p:txBody>
      </p:sp>
      <p:sp>
        <p:nvSpPr>
          <p:cNvPr id="8" name="Rectangle 7"/>
          <p:cNvSpPr/>
          <p:nvPr/>
        </p:nvSpPr>
        <p:spPr>
          <a:xfrm>
            <a:off x="3337560" y="1783080"/>
            <a:ext cx="26974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965960"/>
            <a:ext cx="242316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A1A1A"/>
                </a:solidFill>
                <a:latin typeface="Calibri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651760"/>
            <a:ext cx="23317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Сопоставлены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063239"/>
            <a:ext cx="233172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три стратегические альтернативы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по пяти критериям, выводимым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из теоретической основы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17920" y="1783080"/>
            <a:ext cx="26974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55080" y="1965960"/>
            <a:ext cx="242316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A1A1A"/>
                </a:solidFill>
                <a:latin typeface="Calibri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2651760"/>
            <a:ext cx="23317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Предложен инструмент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3063239"/>
            <a:ext cx="233172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УПС — управление покрытием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через стимулы, в 4,5× дешевле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физической ребалансировки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1783080"/>
            <a:ext cx="2697480" cy="23774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35440" y="1965960"/>
            <a:ext cx="2423160" cy="640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 i="0">
                <a:solidFill>
                  <a:srgbClr val="1A1A1A"/>
                </a:solidFill>
                <a:latin typeface="Calibri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0" y="2651760"/>
            <a:ext cx="23317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Выполнена оценка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326880" y="3063239"/>
            <a:ext cx="2331720" cy="10058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финмодель: +25 млн ₽ год 1,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NPV +134 млн при WACC 20 %,</a:t>
            </a:r>
          </a:p>
          <a:p>
            <a:pPr algn="l">
              <a:lnSpc>
                <a:spcPct val="130000"/>
              </a:lnSpc>
            </a:pPr>
            <a:r>
              <a:rPr sz="1100" b="0" i="0">
                <a:solidFill>
                  <a:srgbClr val="595959"/>
                </a:solidFill>
                <a:latin typeface="Calibri"/>
              </a:rPr>
              <a:t>payback ≈ 8 мес.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4434840"/>
            <a:ext cx="11247120" cy="169164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526280"/>
            <a:ext cx="10972800" cy="3200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200" b="0" i="0">
                <a:solidFill>
                  <a:srgbClr val="595959"/>
                </a:solidFill>
                <a:latin typeface="Calibri"/>
              </a:rPr>
              <a:t>Главный практический вклад работы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846320"/>
            <a:ext cx="10972800" cy="12344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Рабочий инструментарий для подготовки стратегических решений МТС Юрент: диагностический каркас, система режимов R1–R3, проектный инструмент УПС и шаблон финансовой модели для расширения на остальные города присутствия.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6263640"/>
            <a:ext cx="11247120" cy="411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800" b="1" i="0">
                <a:solidFill>
                  <a:srgbClr val="ED0028"/>
                </a:solidFill>
                <a:latin typeface="Calibri"/>
              </a:rPr>
              <a:t>Спасибо за внимание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320040"/>
            <a:ext cx="1828800" cy="4114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BACKUP  1/5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Пять критериев оценки стратегических сценариев — теоретическая основа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74519"/>
            <a:ext cx="112471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96596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1. Ресурсно-теоретическая защитимость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313432"/>
            <a:ext cx="5943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Wernerfelt 1984; Barney 1991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011679"/>
            <a:ext cx="4754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Насколько сценарий опирается на актуальную ресурсную базу оператора и не требует её радикальной перестройки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743200"/>
            <a:ext cx="112471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2. Согласованность с динамическими способностями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182112"/>
            <a:ext cx="5943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Teece, Pisano, Shuen 1997; Teece 2007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66560" y="2880360"/>
            <a:ext cx="4754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Воспроизводимость перестройки конфигурации ресурсов под меняющиеся условия рынка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11880"/>
            <a:ext cx="112471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3. Операционная исполнимость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5943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Sareen, Remme, Haarstad 2021; Moran 2021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66560" y="3749040"/>
            <a:ext cx="4754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Реализуемость сценария при текущей операционной зрелости оператора и регуляторных ограничениях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480560"/>
            <a:ext cx="112471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57200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4. Финансово-операционный эффект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4919472"/>
            <a:ext cx="5943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Aarhaug et al. 2023; Shah et al. 2022; Cennamo 2021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4617720"/>
            <a:ext cx="4754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Ожидаемый прирост EBITDA на портфеле городов в горизонте 12 месяцев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5349240"/>
            <a:ext cx="11247120" cy="7772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5440680"/>
            <a:ext cx="5943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300" b="1" i="0">
                <a:solidFill>
                  <a:srgbClr val="1A1A1A"/>
                </a:solidFill>
                <a:latin typeface="Calibri"/>
              </a:rPr>
              <a:t>5. Профиль риска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788152"/>
            <a:ext cx="5943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Groth et al. 2025; Coenegrachts et al. 2024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0" y="5486400"/>
            <a:ext cx="475488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Структура и величина рисков (поведенческих, технологических, регуляторных, конкурентных)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320040"/>
            <a:ext cx="1828800" cy="4114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BACKUP  2/5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Сценарная матрица: полная оценка S1, S2, S3 по пяти критериям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783080"/>
            <a:ext cx="11247120" cy="73152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256032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Критерий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874519"/>
            <a:ext cx="2468879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S1 (единая логика)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874519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S2 (единый режим + адаптация)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0" y="1874519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S3 (диверсификация)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514600"/>
            <a:ext cx="1124712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606040"/>
            <a:ext cx="256032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1. Ресурсная защитимость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606040"/>
            <a:ext cx="2468879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Использует ресурсы, но не делает их источником преимущества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0" y="260604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Опирается на операционный блок, недоиспользует экосистему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60604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D0028"/>
                </a:solidFill>
                <a:latin typeface="Calibri"/>
              </a:rPr>
              <a:t>Дифференцированно задействует все блоки способностей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246120"/>
            <a:ext cx="11247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337560"/>
            <a:ext cx="256032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2. Динамические способности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91840" y="3337560"/>
            <a:ext cx="2468879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Не требует различения рынков — способности не задействованы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43600" y="333756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Адаптация в рамках одного режима, не на портфельном уровне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69680" y="333756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D0028"/>
                </a:solidFill>
                <a:latin typeface="Calibri"/>
              </a:rPr>
              <a:t>Требует и тренирует воспроизводимую процедуру различения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3977640"/>
            <a:ext cx="1124712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8640" y="4069080"/>
            <a:ext cx="256032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3. Операционная исполнимость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91840" y="4069080"/>
            <a:ext cx="2468879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Уже работает (инерция), но эффективность снижается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0" y="406908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Высокая (один режим везде, ниже требования к координации)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69680" y="406908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D0028"/>
                </a:solidFill>
                <a:latin typeface="Calibri"/>
              </a:rPr>
              <a:t>Средняя — требует поддержки нескольких режимов параллельно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4709160"/>
            <a:ext cx="11247120" cy="73152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4800600"/>
            <a:ext cx="256032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4. Финансовый эффект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91840" y="4800600"/>
            <a:ext cx="2468879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Стагнация выручки/самокат, ухудшение в жёсткой регуляторике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943600" y="480060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Удержание маржи, упущенный рост в R2-городах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69680" y="480060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D0028"/>
                </a:solidFill>
                <a:latin typeface="Calibri"/>
              </a:rPr>
              <a:t>Максимизация отдачи в условиях неоднородности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440680"/>
            <a:ext cx="11247120" cy="73152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5532120"/>
            <a:ext cx="256032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1" i="0">
                <a:solidFill>
                  <a:srgbClr val="1A1A1A"/>
                </a:solidFill>
                <a:latin typeface="Calibri"/>
              </a:rPr>
              <a:t>5. Профиль риска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91840" y="5532120"/>
            <a:ext cx="2468879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Концентрация: ужесточение в нескольких городах = удар по портфелю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0" y="553212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1A1A1A"/>
                </a:solidFill>
                <a:latin typeface="Calibri"/>
              </a:rPr>
              <a:t>Концентр. в R3: невозможность атаковать при появлении возможностей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5532120"/>
            <a:ext cx="2743200" cy="548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ED0028"/>
                </a:solidFill>
                <a:latin typeface="Calibri"/>
              </a:rPr>
              <a:t>Распределён между режимами; добавляется риск координации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320040"/>
            <a:ext cx="1828800" cy="4114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BACKUP  3/5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Финансовая модель: детализация затрат и эффектов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Затраты года 1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194560"/>
            <a:ext cx="548640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313432"/>
            <a:ext cx="25603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Блок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23134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Млн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0" y="231343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Источник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51760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770632"/>
            <a:ext cx="25603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A. Региональное управление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7706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−22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0" y="277063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3 менеджера + 3 аналитика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0896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3227832"/>
            <a:ext cx="25603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B. Маркетинг S3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91840" y="32278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−7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0" y="322783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A/B-тесты, креатив по 3 режимам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566160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48640" y="3685032"/>
            <a:ext cx="25603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C. УПС (вкл. capex 8)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91840" y="36850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−16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0" y="368503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IT + команда пилота + стимулы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02336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48640" y="4142232"/>
            <a:ext cx="25603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D. Накладные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1840" y="41422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−3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0" y="414223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обучение, методич. сопровождение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480560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48640" y="4599432"/>
            <a:ext cx="25603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Итого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91840" y="45994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ED0028"/>
                </a:solidFill>
                <a:latin typeface="Calibri"/>
              </a:rPr>
              <a:t>−48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114800" y="4599432"/>
            <a:ext cx="173736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45352" y="1783080"/>
            <a:ext cx="50292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Эффекты года 1 (EBITDA)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245352" y="2194560"/>
            <a:ext cx="5486400" cy="457200"/>
          </a:xfrm>
          <a:prstGeom prst="rect">
            <a:avLst/>
          </a:prstGeom>
          <a:solidFill>
            <a:srgbClr val="1A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36792" y="2313432"/>
            <a:ext cx="2011679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Эффект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31352" y="23134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FFFFFF"/>
                </a:solidFill>
                <a:latin typeface="Calibri"/>
              </a:rPr>
              <a:t>Млн ₽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54312" y="2313432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FFFFFF"/>
                </a:solidFill>
                <a:latin typeface="Calibri"/>
              </a:rPr>
              <a:t>Расчёт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245352" y="2651760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36792" y="2770632"/>
            <a:ext cx="2011679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1. R2-прирост выручки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31352" y="27706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1E7A3C"/>
                </a:solidFill>
                <a:latin typeface="Calibri"/>
              </a:rPr>
              <a:t>+12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354312" y="2770632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+3 п.п. × 1 544 × 25 % маржа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245352" y="310896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336792" y="3227832"/>
            <a:ext cx="2011679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2. УПС-пилот Екб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31352" y="32278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1E7A3C"/>
                </a:solidFill>
                <a:latin typeface="Calibri"/>
              </a:rPr>
              <a:t>+6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354312" y="3227832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экономия 3,5 + выручка 8,2 × 25 %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245352" y="3566160"/>
            <a:ext cx="5486400" cy="457200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336792" y="3685032"/>
            <a:ext cx="2011679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3. R3-Москва OpEx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31352" y="36850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1E7A3C"/>
                </a:solidFill>
                <a:latin typeface="Calibri"/>
              </a:rPr>
              <a:t>+52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354312" y="3685032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−2 % от выручки Москвы 2 626 млн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245352" y="4023360"/>
            <a:ext cx="5486400" cy="4572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336792" y="4142232"/>
            <a:ext cx="2011679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0" i="0">
                <a:solidFill>
                  <a:srgbClr val="1A1A1A"/>
                </a:solidFill>
                <a:latin typeface="Calibri"/>
              </a:rPr>
              <a:t>4. Малые города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31352" y="41422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1E7A3C"/>
                </a:solidFill>
                <a:latin typeface="Calibri"/>
              </a:rPr>
              <a:t>+3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54312" y="4142232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1A1A1A"/>
                </a:solidFill>
                <a:latin typeface="Calibri"/>
              </a:rPr>
              <a:t>отказ от убыточных локаций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245352" y="4480560"/>
            <a:ext cx="5486400" cy="4572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336792" y="4599432"/>
            <a:ext cx="2011679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50" b="1" i="0">
                <a:solidFill>
                  <a:srgbClr val="1A1A1A"/>
                </a:solidFill>
                <a:latin typeface="Calibri"/>
              </a:rPr>
              <a:t>Итого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31352" y="4599432"/>
            <a:ext cx="6400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050" b="1" i="0">
                <a:solidFill>
                  <a:srgbClr val="1E7A3C"/>
                </a:solidFill>
                <a:latin typeface="Calibri"/>
              </a:rPr>
              <a:t>+73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354312" y="4599432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1" i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5074920"/>
            <a:ext cx="11274552" cy="777240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40080" y="5166360"/>
            <a:ext cx="3657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Чистый эффект год 1 vs S1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4406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200" b="1" i="0">
                <a:solidFill>
                  <a:srgbClr val="FFFFFF"/>
                </a:solidFill>
                <a:latin typeface="Calibri"/>
              </a:rPr>
              <a:t>+25 млн ₽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5029200" y="5166360"/>
            <a:ext cx="3657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Чувствительность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29200" y="54406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−14  /  +25  /  +64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8686800" y="5166360"/>
            <a:ext cx="36576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 i="0">
                <a:solidFill>
                  <a:srgbClr val="FFFFFF"/>
                </a:solidFill>
                <a:latin typeface="Calibri"/>
              </a:rPr>
              <a:t>Год 2 при тиражировании УПС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686800" y="5440680"/>
            <a:ext cx="365760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2000" b="1" i="0">
                <a:solidFill>
                  <a:srgbClr val="FFFFFF"/>
                </a:solidFill>
                <a:latin typeface="Calibri"/>
              </a:rPr>
              <a:t>+80…+100 млн ₽</a:t>
            </a:r>
          </a:p>
        </p:txBody>
      </p:sp>
      <p:sp>
        <p:nvSpPr>
          <p:cNvPr id="62" name="Rectangle 61"/>
          <p:cNvSpPr/>
          <p:nvPr/>
        </p:nvSpPr>
        <p:spPr>
          <a:xfrm>
            <a:off x="457200" y="5989320"/>
            <a:ext cx="365760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94360" y="6035040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NPV (WACC 20 %, 3 года)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94360" y="6245352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+134 млн ₽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251960" y="5989320"/>
            <a:ext cx="365760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4389120" y="6035040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Payback (простой)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389120" y="6245352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≈ 8 месяцев</a:t>
            </a:r>
          </a:p>
        </p:txBody>
      </p:sp>
      <p:sp>
        <p:nvSpPr>
          <p:cNvPr id="68" name="Rectangle 67"/>
          <p:cNvSpPr/>
          <p:nvPr/>
        </p:nvSpPr>
        <p:spPr>
          <a:xfrm>
            <a:off x="8046720" y="5989320"/>
            <a:ext cx="365760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8183879" y="6035040"/>
            <a:ext cx="338328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ROI год 1 / год 2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8183879" y="6245352"/>
            <a:ext cx="338328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ED0028"/>
                </a:solidFill>
                <a:latin typeface="Calibri"/>
              </a:rPr>
              <a:t>52 %  /  243 %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320040"/>
            <a:ext cx="1828800" cy="4114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BACKUP  4/5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УПС — расчётная цепочка по Екатеринбургу и 4 KPI пилота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Расчётная цепочка (базовый сценарий B)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40280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313432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Выручка сезона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023360" y="2313432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D0028"/>
                </a:solidFill>
                <a:latin typeface="Calibri"/>
              </a:rPr>
              <a:t>136 млн 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0" y="2313432"/>
            <a:ext cx="4572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1 819 014 поездок × 75 ₽ средний чек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624328"/>
            <a:ext cx="11247120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697480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OpEx сезона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697480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D0028"/>
                </a:solidFill>
                <a:latin typeface="Calibri"/>
              </a:rPr>
              <a:t>75 млн 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697480"/>
            <a:ext cx="4572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выручка × 55 % OpEx-доля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08376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081528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Ребалансировка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23360" y="3081528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D0028"/>
                </a:solidFill>
                <a:latin typeface="Calibri"/>
              </a:rPr>
              <a:t>22,5 млн 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3081528"/>
            <a:ext cx="4572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OpEx × 30 % доля ребалансировки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392424"/>
            <a:ext cx="11247120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465576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Операций ребаланс.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023360" y="3465576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D0028"/>
                </a:solidFill>
                <a:latin typeface="Calibri"/>
              </a:rPr>
              <a:t>187,6 тыс.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3465576"/>
            <a:ext cx="4572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22 500 000 / 120 ₽ за операцию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3776472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3849624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Замещение (20 %)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023360" y="3849624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D0028"/>
                </a:solidFill>
                <a:latin typeface="Calibri"/>
              </a:rPr>
              <a:t>37,5 тыс.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83680" y="3849624"/>
            <a:ext cx="4572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базовый сценарий B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7200" y="4160520"/>
            <a:ext cx="11247120" cy="384048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40080" y="4233672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Чистая экономия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023360" y="4233672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D0028"/>
                </a:solidFill>
                <a:latin typeface="Calibri"/>
              </a:rPr>
              <a:t>3,5 млн ₽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83680" y="4233672"/>
            <a:ext cx="4572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(120 − 26,5) × 37,5 тыс.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4544568"/>
            <a:ext cx="11247120" cy="38404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" y="4617720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Доп. выручка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023360" y="4617720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ED0028"/>
                </a:solidFill>
                <a:latin typeface="Calibri"/>
              </a:rPr>
              <a:t>8,2 млн 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4617720"/>
            <a:ext cx="4572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1 819 014 × 6 % × 75 ₽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4928616"/>
            <a:ext cx="11247120" cy="384048"/>
          </a:xfrm>
          <a:prstGeom prst="rect">
            <a:avLst/>
          </a:prstGeom>
          <a:solidFill>
            <a:srgbClr val="ED00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001768"/>
            <a:ext cx="32004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FFFFFF"/>
                </a:solidFill>
                <a:latin typeface="Calibri"/>
              </a:rPr>
              <a:t>EBITDA-вклад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023360" y="5001768"/>
            <a:ext cx="2286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r">
              <a:lnSpc>
                <a:spcPct val="120000"/>
              </a:lnSpc>
            </a:pPr>
            <a:r>
              <a:rPr sz="1300" b="1" i="0">
                <a:solidFill>
                  <a:srgbClr val="FFFFFF"/>
                </a:solidFill>
                <a:latin typeface="Calibri"/>
              </a:rPr>
              <a:t>≈ 6 млн ₽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83680" y="5001768"/>
            <a:ext cx="457200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FFFFFF"/>
                </a:solidFill>
                <a:latin typeface="Calibri"/>
              </a:rPr>
              <a:t>3,5 + 8,2 × 25 % маржа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5486400"/>
            <a:ext cx="1124712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 i="0">
                <a:solidFill>
                  <a:srgbClr val="1A1A1A"/>
                </a:solidFill>
                <a:latin typeface="Calibri"/>
              </a:rPr>
              <a:t>4 KPI пилота</a:t>
            </a:r>
          </a:p>
        </p:txBody>
      </p:sp>
      <p:sp>
        <p:nvSpPr>
          <p:cNvPr id="39" name="Rectangle 38"/>
          <p:cNvSpPr/>
          <p:nvPr/>
        </p:nvSpPr>
        <p:spPr>
          <a:xfrm>
            <a:off x="457200" y="5897880"/>
            <a:ext cx="269748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0080" y="5943600"/>
            <a:ext cx="23317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Прирост поездок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190488"/>
            <a:ext cx="23317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в пилотных зонах vs база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91840" y="5897880"/>
            <a:ext cx="269748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74720" y="5943600"/>
            <a:ext cx="23317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Снижение ребалансировки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474720" y="6190488"/>
            <a:ext cx="23317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доля в общем объёме операций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126480" y="5897880"/>
            <a:ext cx="269748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309360" y="5943600"/>
            <a:ext cx="23317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Стоимость стимула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309360" y="6190488"/>
            <a:ext cx="23317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на 1 предотвращённую потерю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961120" y="5897880"/>
            <a:ext cx="2697480" cy="5486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0" y="5943600"/>
            <a:ext cx="23317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Отклик пользователей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0" y="6190488"/>
            <a:ext cx="23317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950" b="0" i="0">
                <a:solidFill>
                  <a:srgbClr val="595959"/>
                </a:solidFill>
                <a:latin typeface="Calibri"/>
              </a:rPr>
              <a:t>доля принятых стимулов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D0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58400" y="320040"/>
            <a:ext cx="1828800" cy="411480"/>
          </a:xfrm>
          <a:prstGeom prst="rect">
            <a:avLst/>
          </a:prstGeom>
          <a:solidFill>
            <a:srgbClr val="5959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BACKUP  5/5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868680"/>
            <a:ext cx="11247120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200" b="1">
                <a:solidFill>
                  <a:srgbClr val="1A1A1A"/>
                </a:solidFill>
                <a:latin typeface="Calibri"/>
              </a:rPr>
              <a:t>Декларация использования ИИ — что и где применялось при подготовке ВКР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783080"/>
            <a:ext cx="11247120" cy="4572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1A1A1A"/>
                </a:solidFill>
                <a:latin typeface="Calibri"/>
              </a:rPr>
              <a:t>Инструменты: ChatGPT (OpenAI, GPT-4o, GPT-5) и Claude (Anthropic, Sonnet 4, Opus 4.7) через стандартные веб-интерфейсы и Cursor IDE.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423160"/>
            <a:ext cx="5577840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2423160"/>
            <a:ext cx="5577840" cy="502920"/>
          </a:xfrm>
          <a:prstGeom prst="rect">
            <a:avLst/>
          </a:prstGeom>
          <a:solidFill>
            <a:srgbClr val="1E7A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496312"/>
            <a:ext cx="55778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✓  Где использовался ИИ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063240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✓  Поиск и оформление литературы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337560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фильтрация источников, ГОСТ-форматирование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11880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✓  Структурирование черновиков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886200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формулировки задач, структура глав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160520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✓  Редактура и стилистика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434840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академический стиль, грамматика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4709159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✓  Перевод аннотации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4983479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русский → английский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5257799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✓  Автоматизация расчётов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5532119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Python для CSV и Excel-модели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806439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✓  Сборка финального .docx и .xlsx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6080759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форматирование, проверка консистентности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2423160"/>
            <a:ext cx="5577840" cy="39319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172200" y="2423160"/>
            <a:ext cx="5577840" cy="502920"/>
          </a:xfrm>
          <a:prstGeom prst="rect">
            <a:avLst/>
          </a:prstGeom>
          <a:solidFill>
            <a:srgbClr val="C01A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72200" y="2496312"/>
            <a:ext cx="5577840" cy="36576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400" b="1" i="0">
                <a:solidFill>
                  <a:srgbClr val="FFFFFF"/>
                </a:solidFill>
                <a:latin typeface="Calibri"/>
              </a:rPr>
              <a:t>✗  Где ИИ не применялся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✗  Постановка проблемы и цели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3337560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авторская формулировка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611880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✗  Интерпретация интервью с экспертами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5120" y="3886200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обобщённые тезисы передавались, не расшифровки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160520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✗  Выбор сценария S3 и режимов R1–R3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75120" y="4434840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авторские стратегические решения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4709159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✗  Концепция и параметры УПС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75120" y="4983479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авторская разработка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257799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✗  Допущения и параметры финмодели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675120" y="5532119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выбор автора, обоснованы в тексте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5806439"/>
            <a:ext cx="512064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1" i="0">
                <a:solidFill>
                  <a:srgbClr val="1A1A1A"/>
                </a:solidFill>
                <a:latin typeface="Calibri"/>
              </a:rPr>
              <a:t>✗  Внутренние данные МТС Юрент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75120" y="6080759"/>
            <a:ext cx="4846320" cy="228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l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только в обезличенном агрегированном виде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 algn="ctr">
              <a:lnSpc>
                <a:spcPct val="120000"/>
              </a:lnSpc>
            </a:pPr>
            <a:r>
              <a:rPr sz="1000" b="0" i="0">
                <a:solidFill>
                  <a:srgbClr val="595959"/>
                </a:solidFill>
                <a:latin typeface="Calibri"/>
              </a:rPr>
              <a:t>Все сгенерированные с участием ИИ фрагменты проверены и отредактированы автором. Ответственность за корректность и интерпретацию — автора ВКР.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