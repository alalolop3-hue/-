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«Добрый день, уважаемые члены государственной экзаменационной комиссии. Меня зовут Пётр Камашев, представляю выпускную квалификационную работу на тему «Конкурентная стратегия МТС Юрент на региональных рынках кикшеринга в России». Научный руководитель — профессор Иван Александрович Егоров.</a:t>
            </a:r>
          </a:p>
          <a:p/>
          <a:p>
            <a:r>
              <a:t>Центральный вопрос работы — как МТС Юренту перейти от роста через расширение парка к управлению отдачей уже сформированного регионального портфеля. Работа выстроена как цепочка из пяти шагов: диагноз города, выбор режима, рычаги в сезоне, KPI и эффект».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работы — разработать аналитическую систему стратегического выбора и применить к МТС Юрент. Логика — линейная: диагностика → 5 критериев → 3 сценария → выбор S3 → режимы + УПС → эффект. Выход работы — сценарий S3, система режимов R1–R3, инструмент УПС, финансовая модель и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Доказательная база сочетает публичную аналитику, внутренние поквартальные данные МТС Юрент по 86 субъектам РФ за 2024 и 9 мес. 2025, и двух экспертов. Демонстрационный портфель из 5 городов покрывает 94 % выручки оператора. ИИ применялся для обработки источников и редактуры; стратегические решения, выбор сценария и параметры финмодели — авторские; декларация — в Приложении А ВКР.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Внешняя среда поменялась: рынок впервые сжался, ставка ЦБ 21 % делает дороже расширение парка, регуляторика расходится по городам, сезон 2025 сжался с марта до июня. Маржа кикшеринга у Whoosh упала с 42,3 % до 28,6 % — это индикативный сигнал зрелости. Совокупный эффект — прежняя логика расширения парка и географии перестаёт быть достаточным основанием конкурентной борьбы.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пяти городах демонстрационного портфеля параметры расходятся в разные стороны. Утилизация — почти четырёхкратный разрыв между Москвой и Новосибирском. Динамика — от −10 % в Краснодаре до +129 % в Новосибирске. Регуляторика — от жёсткой в Москве до умеренной в трёх других. Позиция МТС Юрент во всех — преследователь. Из этой неоднородности вытекает невозможность единого режима — портфельная логика становится единственным реалистичным ответом.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рынке олигополия трёх: Whoosh — масштаб + интеграция; МТС Юрент — экосистема МТС; Яндекс — суперприложение. Ключевой фактор успеха на зрелой стадии — доступность покрытия. У МТС Юрент гэп: 49 vs 67 тыс. руб./самокат/год. Гэп возникает не из-за меньшего парка, а из-за более низкой эффективности уже размещённого парка. Закрытие гэпа требует дифференциации действий по типам региональных рынков и проектного инструмента, повышающего доступность точечно.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Внутри Юрента сильные стороны: экосистема МТС (80 млн абонентов, MTS ID, Premium), технологическая платформа Eleven, парк 120 тыс. СИМ в 187 локациях, гибкость пилотов. Слабые: централизованная управленческая логика, нет процедуры назначения режимов, ограниченная локальная экспертиза. В терминах динамических способностей: операционный блок развит, способность перестраивать ресурсы под изменения рынка — в начальной зрелости. Проблема — не в отсутствии потенциала, а в способе превращения ресурсов в региональный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Сводный стратегический диагноз: разрыв состоит в том, что МТС Юрент работает с неоднородной портфельной средой через единообразную управленческую логику. Причины: переход к зрелости, расхождение регионов, слабая формализация регионального управления. Если не менять — ухудшение экономики покрытия. Ответ — портфельная стратегия с дифференцированными режимами и общим контуром контроля.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методический результат — две конструкции. Трёхуровневая иерархия факторов различения рынков: I — структурная конфигурация (выбор режима), II — операционная исполнимость (проверка реализуемости), III — тактические рычаги. Пять критериев оценки сценариев, выведенных из теории: ресурсная защитимость, динамические способности, операционная исполнимость, финансовый эффект, профиль риска.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альтернативы: S1 — единая логика, S2 — единый режим R3 + адаптация, S3 — диверсификация режимов по портфелю. Сравнение по пяти критериям. S3 сильнее по четырём из пяти. Уступает только по операционной исполнимости в горизонте перестройки — но этот проигрыш адресован компенсаторами. Выбран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Содержательное наполнение S3 — три режима. R1 «Плацдарм» — закрепление, R2 «Атака» — рост доли, R3 «Удержание» — защита маржи. Каждый описан через однородные поля. Назначение по 5 городам: Москва — R3 (огранич.), СПб — R2 → R3, Екб — R2 + пилот УПС, Краснодар — R2/R3, Новосибирск — R2/R3 (эффект.). Это не статическая кластеризация, а воспроизводимая процедура с пересмотром каждый сезон.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УПС адресует ключевой фактор успеха — доступность покрытия. Четырёхшаговая логика: сигнал дефицита, отбор точки и окна, выбор стимула, доступность восстановлена. Три механизма: М1 — стимул на точке высадки, М2 — стимул на точке посадки, М3 — оплачиваемое микрозадание внешнему исполнителю. Ключевая экономика: 120 руб. физической ребалансировки vs 26,5 руб. стимула — в 4,5 раза дешевле. Сезонный денежный эффект пилота в Екб — около 11,7 млн руб., в EBITDA-выражении около 6 млн руб.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Финансовая модель: затраты года 1 — 48 млн руб., эффекты — 73 млн EBITDA, чистый эффект +25 млн. Чувствительность −14 / +25 / +64 млн. Год 2 при тиражировании УПС — +80–100 млн. NPV проекта при WACC 20 % на 3-летнем горизонте — +134 млн руб. Payback — около 8 месяцев. ROI год 1 — 52 %, год 2 — 243 %. Capex проекта всего 8 млн на IT-инфраструктуру УПС — низкая капитальная интенсивность.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 пилота УПС в Екатеринбурге: М1 — диагностика, М2 — М1+М2, М3 — М3, М4 — калибровка, М5 — итоги. С года 2 — тиражирование на СПб, Краснодар, Новосибирск. KPI пилота: прирост поездок в зонах, снижение доли физической ребалансировки, стоимость стимула на предотвращённую потерю, отклик пользователей на предложения.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рисков, у каждого свой компенсатор и измеримая величина для контроля. S3 не требует одномоментной перестройки. Запускается через пилот. Каждый риск адресован конкретным управленческим механизмом.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Финальная фраза: «Если кратко подвести итог работы. Управленческая проблема МТС Юрент состояла в том, что для портфеля из 187 локаций нет формализованной процедуры выбора режима присутствия. Проведённая диагностика показала, что причина — в исчерпании источника новой ценности от единой логики расширения. Сопоставление трёх сценариев по пяти критериям обосновало выбор стратегии диверсификации режимов. В её рамках предложен проектный инструмент УПС и построена портфельная финансовая модель с эффектом +25 млн в год 1 и +80–100 млн в год 2 при тиражировании. Главный практический вклад — рабочий инструментарий для МТС Юрент. Спасибо за внимание, готов к вопросам».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ВКР  |  Конкурентная стратегия МТС Юрент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20040"/>
            <a:ext cx="914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Москва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1A"/>
                </a:solidFill>
                <a:latin typeface="Calibri"/>
              </a:rPr>
              <a:t>Как МТС Юренту перейти от роста через парк</a:t>
            </a:r>
          </a:p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1A"/>
                </a:solidFill>
                <a:latin typeface="Calibri"/>
              </a:rPr>
              <a:t>к управлению отдачей регионального портфеля?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80360"/>
            <a:ext cx="16459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Объект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880360"/>
            <a:ext cx="9601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МТС Юрент как федеральный оператор кикшеринга на портфеле региональных рынков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6459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Предмет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246120"/>
            <a:ext cx="9601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Конкурентная стратегия на портфеле региональных рынков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6459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Проблема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611880"/>
            <a:ext cx="960120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Экстенсивная модель роста через расширение парка и географии теряет эффективность на зрелом и неоднородном рынке. Лимиты парка, регуляторика и падающая предельная отдача требуют выбора разных режимов действий по городам.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17720"/>
            <a:ext cx="365760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27448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Рынок зрелее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спрос в 2025 г.  −6 %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32918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5 лет роста — закончились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4617720"/>
            <a:ext cx="365760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727448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Парк ограничен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074920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fleet cap и регуляторика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394959"/>
            <a:ext cx="32918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каждый новый самокат дороже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617720"/>
            <a:ext cx="365760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727448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Города разные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утилизация различается в 4×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394959"/>
            <a:ext cx="32918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единый режим не работает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33872"/>
            <a:ext cx="16459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96,8 %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45352"/>
            <a:ext cx="164592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доля топ-3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5833872"/>
            <a:ext cx="16459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187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245352"/>
            <a:ext cx="210312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локаций МТС Юрент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826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826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Диагноз города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1558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558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Выбор режима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3290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3290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Рычаги в сезоне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022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022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6754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754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Эффект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1124712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Камашев Пётр  ·  Управление бизнесом  ·  научный руководитель  проф. И. А. Егоров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ЛОГИКА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Цель ВКР — разработать систему стратегического выбора для портфеля региональных рынков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Цель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88136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Разработать аналитическую систему стратегического выбора оператора кикшеринга в портфеле региональных рынков и применить её к МТС Юрент: сопоставить три альтернативных сценария, обосновать выбор сценария, предложить проектный инструментарий и количественно оценить эффект на демонстрационном портфеле из пяти городов.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Проблема и рынок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переход от экстенсивного роста к зрелой стадии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180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Диагностика Юрента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портфель городов, утилизация, выручка/самокат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Выбор сценария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сравнение S1/S2/S3 по 5 критериям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Режимы и УПС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R1/R2/R3 и инструмент управления покрытием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6696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Эффект и риски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финмодель, KPI, условия управляемости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440680"/>
            <a:ext cx="1124712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04688"/>
            <a:ext cx="27432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Выход работы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Сценарий S3  ·  система режимов R1–R3  ·  проектный инструмент УПС  ·  финансовая модель на 5 городах  ·  KPI пилота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Цель работы — проектная: дать МТС Юрент аналитический язык выбора действий по региональным рынкам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МЕТОДЫ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Выводы основаны на публичной аналитике, внутренних данных оператора и сценарной финмодели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Блок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69164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Что использовано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916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Диагностика рынка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9456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TrueSharing 2023–2025, отчётность Whoosh и МТС, деловая пресса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1945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доказать переход к зрелости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69748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Внутренняя база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69748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поквартальные данные МТС Юрент по 86 субъектам РФ за 2024 и 9м25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974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сопоставить города и построить финмодель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0040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Экспертиза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20040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эксперт А. — M&amp;A МТС;  эксперт Б. — калибровка логики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004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проверить управленческую применимость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0332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Методы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70332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PESTEL, конкурентный анализ, рамка I-II-III, сценарное сравнение, финмодель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7033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перейти от проблемы к выбору S3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субъектов РФ в агрегированной базе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2024–9м25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период внутренней базы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городов демонстрационного портфеля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112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обработка источников + редактура; решения и интерпретации авторские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Эмпирическая база достаточна для предварительного выбора стратегии и дизайна пилота; апробация — этап пилота УПС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РЫНОК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Российский рынок перешёл от роста парка к борьбе за эффективность — на зрелой стадии единая логика теряет силу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Что изменилось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03120"/>
            <a:ext cx="49377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31,1 млрд руб. и 281,6 млн поездок · 96,8 % у топ-3 операторов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39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606039"/>
            <a:ext cx="49377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впервые отрицательная динамика спроса: −6 % поездок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59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Whoosh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108959"/>
            <a:ext cx="49377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−7 % поездок, −13 % выручки, EBITDA-маржа 42,3 → 28,6 %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Капитал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611879"/>
            <a:ext cx="49377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ключевая ставка ЦБ 21 % + 2–3 сезона срок службы парка — расширение дорожает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14799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Регуляторика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114799"/>
            <a:ext cx="49377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mos.ru в Москве, соглашения СПб, угрозы расторжения в Екб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17719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Сезон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617719"/>
            <a:ext cx="49377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начался не в марте, а в июне — потери первого квартала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169164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Сводный PESTEL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2103120"/>
            <a:ext cx="20574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2176272"/>
            <a:ext cx="17830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Рынок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395727"/>
            <a:ext cx="178308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D0028"/>
                </a:solidFill>
                <a:latin typeface="Calibri"/>
              </a:rPr>
              <a:t>−6 %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862072"/>
            <a:ext cx="178308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спрос РФ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9800" y="2103120"/>
            <a:ext cx="20574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2176272"/>
            <a:ext cx="17830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Капитал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95727"/>
            <a:ext cx="178308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D0028"/>
                </a:solidFill>
                <a:latin typeface="Calibri"/>
              </a:rPr>
              <a:t>21 %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862072"/>
            <a:ext cx="178308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ставка ЦБ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3200400"/>
            <a:ext cx="20574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20" y="3273552"/>
            <a:ext cx="17830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Регуляторика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493008"/>
            <a:ext cx="178308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D0028"/>
                </a:solidFill>
                <a:latin typeface="Calibri"/>
              </a:rPr>
              <a:t>3 режима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3959352"/>
            <a:ext cx="178308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M / СПб / Екб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0400"/>
            <a:ext cx="2057400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3273552"/>
            <a:ext cx="17830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Сезон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493008"/>
            <a:ext cx="178308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D0028"/>
                </a:solidFill>
                <a:latin typeface="Calibri"/>
              </a:rPr>
              <a:t>март→июнь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3959352"/>
            <a:ext cx="178308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сжатие на квартал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25196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Whoosh: маржа кикшеринга,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4572000"/>
            <a:ext cx="1828800" cy="3657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457200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42,3 %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983480"/>
            <a:ext cx="18288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2024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5440680"/>
            <a:ext cx="1234440" cy="36576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0" y="5440680"/>
            <a:ext cx="123444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28,6 %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5852160"/>
            <a:ext cx="18288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9 мес.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5486400"/>
            <a:ext cx="27432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C01A1A"/>
                </a:solidFill>
                <a:latin typeface="Calibri"/>
              </a:rPr>
              <a:t>↓ −13,7 п.п.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На зрелой стадии конкурентный результат зависит от отдачи уже размещённого парка, а не от его прироста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ПОРТФЕЛЬ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Даже внутри портфеля Юрента 5 городов расходятся в 4× по утилизации — единый режим невозможен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Город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79" y="16916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Утилизация</a:t>
            </a:r>
          </a:p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поезд./самокат/год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69164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YoY поездок</a:t>
            </a:r>
          </a:p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9 мес.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69164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Регуляторика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169164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Гипотеза режима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Москва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219456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1 073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19456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C01A1A"/>
                </a:solidFill>
                <a:latin typeface="Calibri"/>
              </a:rPr>
              <a:t>−6,6 %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9456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жёсткая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19456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R3 (огранич.)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9748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269748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609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69748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+42,3 %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69748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умеренно жёсткая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69748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 → R3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20040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Краснодар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79" y="320040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564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320040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C01A1A"/>
                </a:solidFill>
                <a:latin typeface="Calibri"/>
              </a:rPr>
              <a:t>−10,2 %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20040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20040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 / R3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0332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Екатеринбург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79" y="370332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319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70332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+4,1 %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70332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70332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 + пилот УПС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2062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Новосибирск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79" y="42062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277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420624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+128,9 %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420624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420624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R2/R3 (эффект.)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37760"/>
            <a:ext cx="36576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07492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Москва теряет объём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440680"/>
            <a:ext cx="329184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−14 % выручки 2025 при жёсткой регуляторике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4937760"/>
            <a:ext cx="36576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34840" y="507492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СПб и Новосибирск растут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440680"/>
            <a:ext cx="329184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+42 % и +129 % YoY — резерв плотности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4937760"/>
            <a:ext cx="36576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0" y="507492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Екб — низкая утилизация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5440680"/>
            <a:ext cx="329184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319 п/с/год: идеальный полигон для пилота УПС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Источник: внутренние поквартальные данные МТС Юрент за 2024 и 9 мес. 2025 (эксперт А.); портфель = 94 % выручки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КОНКУРЕНЦИЯ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КФУ на зрелой стадии — доступность покрытия; у МТС Юрент системный гэп 49 vs 67 тыс. ₽ с лидером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Оператор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9164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69164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Логика преимущества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Ограничение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4028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Whoosh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4028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150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24028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масштаб парка + вертикальная интеграция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24028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снижение предельной отдачи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8892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ED0028"/>
                </a:solidFill>
                <a:latin typeface="Calibri"/>
              </a:rPr>
              <a:t>МТС Юрент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78892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120 тыс.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78892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экосистема МТС, рост, Eleven, широкая география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78892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ниже утилизация и выручка/самокат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3756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33756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Яндекс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333756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30 тыс.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33756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трафик суперприложения + транспорт. экосистема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33756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меньший парк, непубличный фокус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5669280" cy="21031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06240"/>
            <a:ext cx="53035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07070"/>
                </a:solidFill>
                <a:latin typeface="Calibri"/>
              </a:rPr>
              <a:t>Гэп с лидером — в эффективности, не в размере парка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26280"/>
            <a:ext cx="18288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ED0028"/>
                </a:solidFill>
                <a:latin typeface="Calibri"/>
              </a:rPr>
              <a:t>49,4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526280"/>
            <a:ext cx="54864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vs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526280"/>
            <a:ext cx="18288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1A1A1A"/>
                </a:solidFill>
                <a:latin typeface="Calibri"/>
              </a:rPr>
              <a:t>66,8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760720"/>
            <a:ext cx="53035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тыс. ₽ — выручка на самокат в год · МТС Юрент против Whoosh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069080"/>
            <a:ext cx="53492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20624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Ключевые факторы успеха на зрелой стадии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57200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1.  Фактическая доступность самоката в нужной точке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93776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2.  Экономика на единицу парка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239512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3.  Операционная исполнимость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62356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→  Доступность покрытия — критический КФУ; к нему привязан УПС (Слайд 13)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Гэп закрывается не наращиванием парка, а повышением отдачи от уже размещённого парка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ВНУТРИ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7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Внутри сильная экосистема МТС и Eleven, но централизованная управленческая логика для 187 локаций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5532120" cy="39776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532120" cy="457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5532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+   СИЛЬНЫЕ СТОРОНЫ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Экосистема МТС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80 млн абонентов · MTS ID · Premium · обезличенная геоаналитика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Технол. платформа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79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после приобретения Eleven (декабрь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Операционная база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120 тыс. СИМ в 187 локациях, отстроенные процедуры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Гибкость пилотирования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компактная команда, короткий контур решений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691640"/>
            <a:ext cx="5532120" cy="39776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691640"/>
            <a:ext cx="5532120" cy="457200"/>
          </a:xfrm>
          <a:prstGeom prst="rect">
            <a:avLst/>
          </a:prstGeom>
          <a:solidFill>
            <a:srgbClr val="C0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1764792"/>
            <a:ext cx="5532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−   СЛАБЫЕ СТОРОНЫ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Централизованная управл. логика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56032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мало чувствительна к различиям регионов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310896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Нет процедуры назначения режимов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3383279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решения по городам — набор разовых кейсов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93192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Огранич. локальная 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420624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дефицит выделенных функций региональной координации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475488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Отставание по эффективности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502920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выручка/самокат и утилизация ниже Whoosh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Dynamic capabilities:  операционный блок развит,  способность перестраивать ресурсы под изменения рынка — в начальной зрелости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Проблема — не в отсутствии ресурсов, а в том, что текущая модель не превращает их в региональный результат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ДИАГНОЗ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Стратегический диагноз: портфель стал неоднородным быстрее, чем управленческая модель оператора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49427" y="1691640"/>
            <a:ext cx="26517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86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Федеральный масштаб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и зрелый рынок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1187" y="2606040"/>
            <a:ext cx="228600" cy="0"/>
          </a:xfrm>
          <a:prstGeom prst="line">
            <a:avLst/>
          </a:prstGeom>
          <a:ln w="1905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29787" y="1691640"/>
            <a:ext cx="26517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122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Разные города: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спрос, регуляторика,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сезон, конкуренция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1547" y="2606040"/>
            <a:ext cx="228600" cy="0"/>
          </a:xfrm>
          <a:prstGeom prst="line">
            <a:avLst/>
          </a:prstGeom>
          <a:ln w="1905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210147" y="1691640"/>
            <a:ext cx="26517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Единая логика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теряет точность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1907" y="2606040"/>
            <a:ext cx="228600" cy="0"/>
          </a:xfrm>
          <a:prstGeom prst="line">
            <a:avLst/>
          </a:prstGeom>
          <a:ln w="1905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090507" y="1691640"/>
            <a:ext cx="2651760" cy="182880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194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Нужна система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«город → режим → KPI»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3703320" cy="2286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3703320" cy="4114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04488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Причины разрыва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89120"/>
            <a:ext cx="3337560" cy="1691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стагнация совокупного спроса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регуляторная фрагментация по городам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разная утилизация парка по городам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3840480"/>
            <a:ext cx="3703320" cy="2286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3840480"/>
            <a:ext cx="3703320" cy="41148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59" y="3904488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Последствия (если не менять)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389120"/>
            <a:ext cx="3337560" cy="1691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ошибки в масштабе присутствия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избыточный OpEx в тяжёлых рынках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недоиспользование роста в R2-городах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19" y="3840480"/>
            <a:ext cx="3703320" cy="2286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3840480"/>
            <a:ext cx="3703320" cy="4114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19" y="3904488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Ответ работы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4389120"/>
            <a:ext cx="3337560" cy="1691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портфельная стратегия с разными режимами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общий контур контроля и KPI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дорожная карта пилота УПС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Нужна управляемая система различения региональных рынков «город → режим → KPI»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РАМКА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Рамка I-II-III переводит различия городов в параметры стратегического выбора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6400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Три уровня диагностики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13232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7315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03120"/>
            <a:ext cx="34747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Что оцениваем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03120"/>
            <a:ext cx="21031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На что влияет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7132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7315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514600"/>
            <a:ext cx="34747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ёмкость, регуляторика, конкуренция,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положение МТС Юрент на рынке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514600"/>
            <a:ext cx="21031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выбор режима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(R1, R2 или R3)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79"/>
            <a:ext cx="7132320" cy="868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83279"/>
            <a:ext cx="7315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83279"/>
            <a:ext cx="34747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сезонность, плотность спроса,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стоимость покрытия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383279"/>
            <a:ext cx="21031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осуществимость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режима в сезоне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59"/>
            <a:ext cx="7132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51959"/>
            <a:ext cx="7315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251959"/>
            <a:ext cx="34747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цены, промо, партнёрства,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переразмещение парка, УПС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251959"/>
            <a:ext cx="21031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рычаги внутри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уже выбранного режима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69164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5 критериев оценки сценариев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2103120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21031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103120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Ресурсно-теоретическая защитимость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2697479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269747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697479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Согласованность с динамическими способностями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3291839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329183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3291839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Операционная исполнимость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3886200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88620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886200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Финансово-операционный эффект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4480560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48056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480560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Профиль риска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I-II дают диагноз города → выбор режима;  III показывает доступные рычаги управления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Рамка готовит сравнение S1/S2/S3 и карту действий по городам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АЛЬТЕРНАТИВЫ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10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Из трёх альтернатив оптимальна диверсификация режимов по портфелю — S3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795759" cy="5943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16916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S1: единая логика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6916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S2: единый режим + адаптация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19" y="169164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S3: диверсификация режимов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795759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8600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Ресурсная защитимость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28600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низкая: ресурсы не дают дифференциации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28600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средняя: дисциплина исполнения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28600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высокая: ресурсы МТС работают там, где дают эффект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11795759" cy="5943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88036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Dynamic 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288036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низкая: слабое различение рынков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88036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средняя: адаптация внутри 1 режима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19" y="288036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высокая: воспроизводимое различение рынков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11795759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47472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Операционная исполнимость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347472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высокая по факту (инерция)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высокая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19" y="347472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средняя: нужны компенсаторы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11795759" cy="5943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06908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Финансовый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79" y="406908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низкий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6908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средний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19" y="406908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высокий при пилоте и контроле OpEx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11795759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634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Профиль риска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79" y="46634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концентрирован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6634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концентрирован в R3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466344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распределён; требует координации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Выбор: S3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2296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S3 решает исходный разрыв при управляемых рисках. Уступает только по операционной исполнимости в горизонте перестройки — адресовано компенсаторами (Слайд 14)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S3 связывает региональные различия с ресурсами и эффектом ценой повышенных требований к координации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СТРАТЕГИЯ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11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S3 — управление портфелем режимов, назначенных конкретным городам с регулярным пересмотром по KPI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37033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10512"/>
            <a:ext cx="8229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7830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Плацдарм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57400"/>
            <a:ext cx="2560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закрепление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33756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минимальная плотность парка; операционные стандарты; контакты с городом; ограниченное промо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337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KPI:  покрытие ключевых зон, базовая утилизация, отсутствие конфликтов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691640"/>
            <a:ext cx="37033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691640"/>
            <a:ext cx="3703320" cy="640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10512"/>
            <a:ext cx="8229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7830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Атака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057400"/>
            <a:ext cx="2560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рост доли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468880"/>
            <a:ext cx="333756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расширение и переразмещение парка; плотность ключевых зон; клиентская и ценовая работа; УПС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83280"/>
            <a:ext cx="3337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KPI:  поездки, доля относительно лидера, активная аудитория, выручка/самокат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1691640"/>
            <a:ext cx="37033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691640"/>
            <a:ext cx="3703320" cy="640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1810512"/>
            <a:ext cx="8229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7830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Удержание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2057400"/>
            <a:ext cx="2560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защита экономики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2468880"/>
            <a:ext cx="333756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дисциплина расстановки; снижение издержек обслуживания; защита микролокаций; удержание пользователей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3383280"/>
            <a:ext cx="3337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KPI:  доля поездок, выручка/самокат, ребалансировка, EBITDA-маржа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10972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Назначение режимов по городам портфеля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11247120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3891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Город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3891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Режим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38912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59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70915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Москва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470915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R3 (огранич.)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4709159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оптимизируем парк, концентрируемся в устойчивых зонах, соблюдаем регуляторные ограничения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29200"/>
            <a:ext cx="11247120" cy="3200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02920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02920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 → R3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502920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атакуем при запасе плотности; готовим переход к удержанию при ужесточении регуляторики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34924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Екатеринбург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534924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 + пилот УПС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534924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пилотируем УПС, переразмещаем парк в ключевых зонах, растим утилизацию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669279"/>
            <a:ext cx="11247120" cy="3200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66927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Краснодар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80360" y="566927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 / R3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66360" y="5669279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используем длинный сезон, удерживаем плотность, контролируем стоимость покрытия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9893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Новосибирск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9893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R2/R3 эффект.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60" y="598932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растём с низкой базы, контролируем утилизацию и стоимость покрытия в коротком сезоне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Стратегия задаёт правила назначения режима и переходов между режимами по фактическим KPI каждый сезон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ИНСТРУМЕНТ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УПС превращает локальный дефицит доступности в управляемое действие, дешевле физической ребалансировки в 4,5×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09447" y="1691640"/>
            <a:ext cx="26060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1691640"/>
            <a:ext cx="260604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Сигнал дефицита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15487" y="2011680"/>
            <a:ext cx="182880" cy="0"/>
          </a:xfrm>
          <a:prstGeom prst="line">
            <a:avLst/>
          </a:prstGeom>
          <a:ln w="2540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98367" y="1691640"/>
            <a:ext cx="26060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8367" y="1691640"/>
            <a:ext cx="260604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Отбор точки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и окна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04407" y="2011680"/>
            <a:ext cx="182880" cy="0"/>
          </a:xfrm>
          <a:prstGeom prst="line">
            <a:avLst/>
          </a:prstGeom>
          <a:ln w="2540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187287" y="1691640"/>
            <a:ext cx="26060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691640"/>
            <a:ext cx="260604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Выбор стимула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93327" y="2011680"/>
            <a:ext cx="182880" cy="0"/>
          </a:xfrm>
          <a:prstGeom prst="line">
            <a:avLst/>
          </a:prstGeom>
          <a:ln w="2540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976207" y="1691640"/>
            <a:ext cx="26060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6207" y="1691640"/>
            <a:ext cx="260604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Доступность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восстановлена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Три механизма УПС (шаг «Выбор стимула»)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370332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822960" cy="14173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822960" cy="14173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М1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154679"/>
            <a:ext cx="2697479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Стимул на стороне точки высадки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657600"/>
            <a:ext cx="2697479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бонус за завершение поездки в зоне дефицита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017520"/>
            <a:ext cx="370332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017520"/>
            <a:ext cx="822960" cy="14173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59" y="3017520"/>
            <a:ext cx="822960" cy="14173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М2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59" y="3154679"/>
            <a:ext cx="2697479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Стимул на стороне точки посадки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59" y="3657600"/>
            <a:ext cx="2697479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стимул взять самокат из зоны переизбытка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19" y="3017520"/>
            <a:ext cx="370332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9" y="3017520"/>
            <a:ext cx="822960" cy="14173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19" y="3017520"/>
            <a:ext cx="822960" cy="14173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М3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19" y="3154679"/>
            <a:ext cx="2697479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Микрозадание внешнему исполнителю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19" y="3657600"/>
            <a:ext cx="2697479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внешний исполнитель перемещает самокат между точками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617720"/>
            <a:ext cx="2743200" cy="1554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846320"/>
            <a:ext cx="2743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A1A1A"/>
                </a:solidFill>
                <a:latin typeface="Calibri"/>
              </a:rPr>
              <a:t>120 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3212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физическая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ребалансировка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617720"/>
            <a:ext cx="2743200" cy="1554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4846320"/>
            <a:ext cx="2743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ED0028"/>
                </a:solidFill>
                <a:latin typeface="Calibri"/>
              </a:rPr>
              <a:t>26,5 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553212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средняя стоимость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стимула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4617720"/>
            <a:ext cx="2743200" cy="1554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4846320"/>
            <a:ext cx="2743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A1A1A"/>
                </a:solidFill>
                <a:latin typeface="Calibri"/>
              </a:rPr>
              <a:t>≈ 11,7 млн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553212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денежный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эффект сезона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20" y="4617720"/>
            <a:ext cx="2743200" cy="1554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4846320"/>
            <a:ext cx="2743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ED0028"/>
                </a:solidFill>
                <a:latin typeface="Calibri"/>
              </a:rPr>
              <a:t>≈ 6 млн 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553212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EBITDA-вклад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год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KPI пилота:  прирост поездок в пилотных зонах · снижение физической ребалансировки · стоимость стимула на предотвращённую потерю · отклик пользователей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ФИНМОДЕЛЬ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S3 окупается за счёт перенастройки уже существующего портфеля: +25 млн ₽ EBITDA год 1, NPV +134 млн при WACC 20 %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6675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Эффект S3 vs S1 на 5 городах (4,17 млрд ₽ выручки), млн руб.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667512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10312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Затраты S3:  управление, маркетинг, УПС, накладные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51460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C01A1A"/>
                </a:solidFill>
                <a:latin typeface="Calibri"/>
              </a:rPr>
              <a:t>−48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26079"/>
            <a:ext cx="667512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Эффект R2:  прирост выручки СПб, Екб, Крд, Нск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926079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УПС-пилот в Екатеринбурге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333756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667512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49039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R3 Москва:  оптимизация OpEx (−2 % от выручки)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3749039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60520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R1/R2 малые города:  экономия капвложений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16052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72000"/>
            <a:ext cx="6675120" cy="4114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5720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Чистый эффект год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457200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+25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166360"/>
            <a:ext cx="6675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Чувствительность год 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486400"/>
            <a:ext cx="219456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532120"/>
            <a:ext cx="2194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Пессимистично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7607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01A1A"/>
                </a:solidFill>
                <a:latin typeface="Calibri"/>
              </a:rPr>
              <a:t>−14 млн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79" y="5486400"/>
            <a:ext cx="219456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97479" y="5532120"/>
            <a:ext cx="2194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База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79" y="57607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+25 млн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59" y="5486400"/>
            <a:ext cx="219456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59" y="5532120"/>
            <a:ext cx="2194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Оптимистично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59" y="57607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E7A3C"/>
                </a:solidFill>
                <a:latin typeface="Calibri"/>
              </a:rPr>
              <a:t>+64 млн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1691640"/>
            <a:ext cx="42976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Показатели проекта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103120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800" y="2148839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+25 млн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6712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чистый эффект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248716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год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2926079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2971799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+80…+100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299008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млн 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331012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год 2 при тиражировании УПС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3749039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3794759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+134 млн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4080" y="381304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NPV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0" y="413308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WACC 20 %, горизонт 3 года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4572000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4617720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≈ 8 мес.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4080" y="463600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Payback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95604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один пилотный сезон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06640" y="5394960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5440680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52 % / 243 %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545896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ROI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577900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год 1 / год 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Главный драйвер модели — перераспределение режимов, снижение OpEx в тяжёлых рынках и пилот УПС там, где есть локальный дефицит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ПЛАН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S3 запускается через пилот в Екатеринбурге, не через одномоментную перестройку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Дорожная карта пилота УПС, 12 месяцев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92327" y="2926080"/>
            <a:ext cx="10607040" cy="0"/>
          </a:xfrm>
          <a:prstGeom prst="line">
            <a:avLst/>
          </a:prstGeom>
          <a:ln w="2540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66647" y="256032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567" y="356616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Диагностика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" y="393192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базовые KPI,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чувствительные микролокации</a:t>
            </a:r>
          </a:p>
        </p:txBody>
      </p:sp>
      <p:sp>
        <p:nvSpPr>
          <p:cNvPr id="11" name="Oval 10"/>
          <p:cNvSpPr/>
          <p:nvPr/>
        </p:nvSpPr>
        <p:spPr>
          <a:xfrm>
            <a:off x="3352647" y="256032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2567" y="356616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Запуск М1+М2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2567" y="393192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стимулы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пользователям</a:t>
            </a:r>
          </a:p>
        </p:txBody>
      </p:sp>
      <p:sp>
        <p:nvSpPr>
          <p:cNvPr id="14" name="Oval 13"/>
          <p:cNvSpPr/>
          <p:nvPr/>
        </p:nvSpPr>
        <p:spPr>
          <a:xfrm>
            <a:off x="5638647" y="256032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567" y="356616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Запуск М3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393192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микрозадания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внешним исполнителям</a:t>
            </a:r>
          </a:p>
        </p:txBody>
      </p:sp>
      <p:sp>
        <p:nvSpPr>
          <p:cNvPr id="17" name="Oval 16"/>
          <p:cNvSpPr/>
          <p:nvPr/>
        </p:nvSpPr>
        <p:spPr>
          <a:xfrm>
            <a:off x="7924647" y="256032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4567" y="356616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Калибровка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4567" y="393192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параметры стимулов,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расширение зоны</a:t>
            </a:r>
          </a:p>
        </p:txBody>
      </p:sp>
      <p:sp>
        <p:nvSpPr>
          <p:cNvPr id="20" name="Oval 19"/>
          <p:cNvSpPr/>
          <p:nvPr/>
        </p:nvSpPr>
        <p:spPr>
          <a:xfrm>
            <a:off x="10210647" y="256032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70567" y="356616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Итоги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0567" y="3931920"/>
            <a:ext cx="21945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решение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о тиражировании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17720"/>
            <a:ext cx="18288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После пилота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10972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Год 2 →  тиражирование УПС на СПб, Краснодар и Новосибирск (R2-кластер);  пересмотр режима каждый сезон по фактическим KPI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34924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4 KPI пилота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6692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7150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Прирост поездок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9618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в пилотных зонах vs база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40" y="56692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57150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Снижение ребалансировки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59618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доля в общем объёме операций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56692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7150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Стоимость стимула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59618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на 1 предотвращённую потерю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61120" y="56692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57150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Отклик пользователей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9618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707070"/>
                </a:solidFill>
                <a:latin typeface="Calibri"/>
              </a:rPr>
              <a:t>доля принятых стимулов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Пилот калибрует допущения финмодели; решение о тиражировании принимается на конец сезона по факту KPI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РИСКИ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S3 управляем при наличии отдельного портфельного контура и регулярного пересмотра режимов по KPI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704319" cy="47548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691640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Компенсатор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91640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Что контролировать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67128"/>
            <a:ext cx="117043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67128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Рассинхронизация режимов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67128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функция портфельного управления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167128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ежемесячная сверка «город → режим»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42616"/>
            <a:ext cx="11704319" cy="47548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642616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Потеря единого 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42616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единый продуктовый слой при разной операционной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42616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приложение, базовая цена, сервисные правила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18104"/>
            <a:ext cx="117043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118104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Кадровая нагрузка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118104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поэтапный запуск: 5 городов → расширенный портфель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118104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региональные менеджеры и аналитики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93592"/>
            <a:ext cx="11704319" cy="47548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593592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Регуляторные шоки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593592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правила перехода R2 → R3 / R3 ограниченное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593592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изменение условий присутствия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117043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069080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Ошибка диагностики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069080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пересмотр режима по 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069080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выручка/самокат, доля поездок, стоимость покрытия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44568"/>
            <a:ext cx="11704319" cy="47548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544568"/>
            <a:ext cx="283464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Универсализация УПС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544568"/>
            <a:ext cx="457200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фиксация условий применимости (только R2 и R3)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544568"/>
            <a:ext cx="3474720" cy="47548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каталог сценариев применения УПС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91440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58968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Главное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696712"/>
            <a:ext cx="1051560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S3 не требует одномоментной перестройки всей компании. Запускается через пилот и расширяется при подтверждении экономики. Каждый риск адресован конкретным управленческим механизмом.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Распределённый профиль риска даётся ценой повышенных требований к координации — управленческий компенсатор обязателен, а не опционален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ВЫВОД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Управленческий вывод: МТС Юрент получает рабочий инструментарий для решений по портфелю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783080"/>
            <a:ext cx="2697480" cy="228600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33172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Диагностирована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управленческая проблема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регионального портфеля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из 187 локаций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783080"/>
            <a:ext cx="269748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920240"/>
            <a:ext cx="233172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A1A1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60604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Сопоставлены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017520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три стратегические альтернативы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по пяти критериям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из теоретической основы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269748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33172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A1A1A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0604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Предложен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17520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УПС — управление покрытием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через стимулы,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в 4,5× дешевле ребалансировки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783080"/>
            <a:ext cx="269748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920240"/>
            <a:ext cx="233172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A1A1A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60604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Выполнена оценка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3017520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финмодель:  +25 млн ₽ год 1,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NPV +134 млн при WACC 20 %,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payback ≈ 8 мес.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97680"/>
            <a:ext cx="11247120" cy="14630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10972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Главный практический вклад работы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5488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Рабочий инструментарий для подготовки стратегических решений МТС Юрент: диагностический каркас «город → режим → KPI», система режимов R1–R3, проектный инструмент УПС и шаблон финансовой модели для расширения на остальные города присутствия.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Спасибо за внимание · готов к вопросам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КРИТЕРИИ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Пять критериев оценки стратегических сценариев — теоретическая основа и измерение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Ресурсно-теоретическая защитимость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Wernerfelt 1984; Barney 1991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Опирается ли сценарий на актуальную ресурсную базу оператора и не требует радикальной перестройки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Согласованность с динамическими способностями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Teece, Pisano, Shuen 1997; Teece 2007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8892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Способность сценария воспроизводимо перестраивать конфигурацию ресурсов под меняющиеся условия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0332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Sareen, Remme, Haarstad 2021; Moran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74904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Реализуемость сценария при текущей операционной зрелости оператора и регуляторных ограничениях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Финансово-операционный эффект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Aarhaug et al. 2023; Shah et al. 2022; Cennamo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70916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Ожидаемый прирост EBITDA на портфеле городов в горизонте 12 месяцев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623559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Groth et al. 2025; Coenegrachts et al.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66928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Структура и величина рисков (поведенческих, технологических, регуляторных, конкурентных)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МАТРИЦА СЦЕНАРИЕВ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2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Полная оценка S1, S2, S3 по пяти критериям с обоснованием каждой ячейки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7132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783080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S1 (единая логика)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S2 (единый режим + адаптация)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78308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S3 (диверсификация)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04872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96312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1. Ресурсная защитимость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96312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Использует ресурсы, не делает источником преимущества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496312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Опирается на операционный блок, недоиспользует экосистему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496312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Дифференцированно задействует все блоки способностей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18104"/>
            <a:ext cx="11247120" cy="71323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09544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2. Динамические способности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209544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Не требует различения рынков — способности не задействованы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9544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Адаптация внутри одного режима, не на портфельном уровне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209544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Требует и тренирует воспроизводимую процедуру различения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31335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922775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922775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Уже работает (инерция), но эффективность снижается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922775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Высокая (один режим везде, ниже требования к координации)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922775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Средняя — требует поддержки нескольких режимов параллельно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44568"/>
            <a:ext cx="11247120" cy="71323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636008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4. Финансовый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636008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Стагнация выручки/самокат, ухудшение в жёсткой регуляторике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636008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Удержание маржи, упущенный рост в R2-городах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636008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Максимизация отдачи в условиях неоднородности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349240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Концентрация: ужесточение в нескольких городах = удар по портфелю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34924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Концентр. в R3: невозможность атаковать при возможностях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534924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Распределён между режимами; добавляется риск координации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ФИНМОДЕЛЬ — ДЕТАЛИ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3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Финансовая модель: разбивка затрат и эффектов, источник каждого числа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Затраты года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Блок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031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A. Региональное управление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5603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3 менеджера + 3 аналитика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B. Маркетинг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0175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0175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A/B-тесты, креатив по 3 режимам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C. УПС (вкл. capex 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4747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4747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IT + команда пилота + стимулы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319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D. Накладные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9319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9319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обучение, методич. сопровождение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89120"/>
            <a:ext cx="54864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1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Итого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389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3891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Эффекты года 1 (EBITDA)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10312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21031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Эффект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1352" y="2103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21031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Расчёт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25603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25603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1. R2-прирост выручки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31352" y="25603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4312" y="25603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+3 п.п. × 1 544 × 25 % маржа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30175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36792" y="30175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2. УПС-пилот Екб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30175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54312" y="30175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экономия 3,5 + выручка 8,2 × 25 %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2" y="34747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36792" y="34747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3. R3-Москва OpEx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31352" y="34747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34747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−2 % от выручки Москвы 2 626 млн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5352" y="39319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36792" y="39319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4. Малые города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1352" y="39319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54312" y="39319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отказ от убыточных локаций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45352" y="4389120"/>
            <a:ext cx="54864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36792" y="43891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Итого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1352" y="4389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+73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54312" y="43891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074920"/>
            <a:ext cx="11274552" cy="7772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Чистый эффект год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41324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+25 млн 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Чувствительность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541324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−14  /  +25  /  +64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Год 2 при тиражировании УПС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541324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+80…+100 млн ₽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989320"/>
            <a:ext cx="3657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NPV  (WACC 20 %, 3 года)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263640"/>
            <a:ext cx="3383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+134 млн 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0" y="5989320"/>
            <a:ext cx="3657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3484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Payback (простой)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34840" y="6263640"/>
            <a:ext cx="3383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≈ 8 месяцев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46720" y="5989320"/>
            <a:ext cx="3657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ROI год 1 / год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6263640"/>
            <a:ext cx="3383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52 %  /  243 %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УПС — РАСЧЁТНАЯ ЦЕПОЧКА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4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УПС — расчёт по Екатеринбургу (базовый сценарий B) и 4 KPI пилота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Расчётная цепочка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Выручка сезона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103120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136 млн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1 819 014 поездок × 75 ₽ средний чек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87168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87168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OpEx сезона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487168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75 млн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выручка × 55 % OpEx-доля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71215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71215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Ребалансировка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871215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22,5 млн 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871215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OpEx × 30 % доля ребалансировки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55263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55263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Операций ребаланс.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55263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187,6 тыс.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255263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22 500 000 / 120 ₽ за операцию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39311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639311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Замещение (20 %)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639311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37,5 тыс.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39311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базовый сценарий 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23359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023359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Чистая экономия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023359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3,5 млн 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023359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(120 − 26,5) × 37,5 тыс.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407407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407407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Доп. выручка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407407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8,2 млн 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407407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1 819 014 × 6 % × 75 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91455"/>
            <a:ext cx="11247120" cy="384048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791455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EBITDA-вклад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4791455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≈ 6 млн 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791455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3,5 + 8,2 × 25 % маржа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4 KPI пилота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Прирост поездок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в пилотных зонах vs база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4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2900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Снижение ребалансировки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доля в общем объёме операций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364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Стоимость стимула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на 1 предотвращённую потерю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6112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9828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Отклик пользователей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доля принятых стимулов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ДЕКЛАРАЦИЯ 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5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Декларация использования ИИ — что и где применялось при подготовке ВКР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Инструменты: ChatGPT (OpenAI, GPT-4o, GPT-5) и Claude (Anthropic, Sonnet 4, Opus 4.7) через стандартные веб-интерфейсы и Cursor 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7784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5577840" cy="50292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✓   ГДЕ ИСПОЛЬЗОВАЛСЯ 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7180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Поиск и оформление литературы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фильтрация источников, ГОСТ-форматирование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Структурирование черновиков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формулировки задач, структура глав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Редактура и стилистика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4340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академический стиль, грамматика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1772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Перевод аннотации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9204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русский → английский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6635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Автоматизация расчётов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4067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Python для CSV и Excel-модели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1499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Сборка финального .docx и .xlsx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98931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форматирование, проверка консистентности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2331720"/>
            <a:ext cx="557784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331720"/>
            <a:ext cx="5577840" cy="502920"/>
          </a:xfrm>
          <a:prstGeom prst="rect">
            <a:avLst/>
          </a:prstGeom>
          <a:solidFill>
            <a:srgbClr val="C0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395728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✗   ГДЕ ИИ НЕ ПРИМЕНЯЛСЯ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7180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Постановка проблемы и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24612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авторская формулировка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5204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Интерпретация интервью с экспертами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79476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обобщённые тезисы передавались, не расшифровки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Выбор сценария S3 и режимов R1–R3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34340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авторские стратегические решения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61772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Концепция и параметры УПС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89204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авторская разработка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16635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Допущения и параметры финмодели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44067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выбор автора, обоснованы в тексте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1499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Внутренние данные МТС Юрент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98931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только в обезличенном агрегированном виде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Все сгенерированные с участием ИИ фрагменты проверены и отредактированы автором. Ответственность за корректность и интерпретацию — автора ВКР.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